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81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IYA T" userId="2d8c54d4828ef1cf" providerId="LiveId" clId="{87B3DC7B-09BD-4142-9DDE-040FAA37A2EE}"/>
    <pc:docChg chg="custSel modSld">
      <pc:chgData name="SURIYA T" userId="2d8c54d4828ef1cf" providerId="LiveId" clId="{87B3DC7B-09BD-4142-9DDE-040FAA37A2EE}" dt="2026-05-06T03:48:49.257" v="12" actId="14100"/>
      <pc:docMkLst>
        <pc:docMk/>
      </pc:docMkLst>
      <pc:sldChg chg="addSp delSp modSp mod">
        <pc:chgData name="SURIYA T" userId="2d8c54d4828ef1cf" providerId="LiveId" clId="{87B3DC7B-09BD-4142-9DDE-040FAA37A2EE}" dt="2026-05-06T03:48:49.257" v="12" actId="14100"/>
        <pc:sldMkLst>
          <pc:docMk/>
          <pc:sldMk cId="0" sldId="258"/>
        </pc:sldMkLst>
        <pc:picChg chg="del">
          <ac:chgData name="SURIYA T" userId="2d8c54d4828ef1cf" providerId="LiveId" clId="{87B3DC7B-09BD-4142-9DDE-040FAA37A2EE}" dt="2026-05-06T03:48:25.680" v="5" actId="478"/>
          <ac:picMkLst>
            <pc:docMk/>
            <pc:sldMk cId="0" sldId="258"/>
            <ac:picMk id="4" creationId="{00000000-0000-0000-0000-000000000000}"/>
          </ac:picMkLst>
        </pc:picChg>
        <pc:picChg chg="add mod">
          <ac:chgData name="SURIYA T" userId="2d8c54d4828ef1cf" providerId="LiveId" clId="{87B3DC7B-09BD-4142-9DDE-040FAA37A2EE}" dt="2026-05-06T03:46:57.851" v="4" actId="14100"/>
          <ac:picMkLst>
            <pc:docMk/>
            <pc:sldMk cId="0" sldId="258"/>
            <ac:picMk id="6" creationId="{020446A7-59E9-7A10-0623-693447769299}"/>
          </ac:picMkLst>
        </pc:picChg>
        <pc:picChg chg="add mod">
          <ac:chgData name="SURIYA T" userId="2d8c54d4828ef1cf" providerId="LiveId" clId="{87B3DC7B-09BD-4142-9DDE-040FAA37A2EE}" dt="2026-05-06T03:48:49.257" v="12" actId="14100"/>
          <ac:picMkLst>
            <pc:docMk/>
            <pc:sldMk cId="0" sldId="258"/>
            <ac:picMk id="8" creationId="{DD401EC1-28D7-595F-9243-0481D8A95AE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57517" y="457200"/>
          <a:ext cx="6642100" cy="4794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64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1300">
                <a:tc>
                  <a:txBody>
                    <a:bodyPr/>
                    <a:lstStyle/>
                    <a:p>
                      <a:pPr marL="323850">
                        <a:lnSpc>
                          <a:spcPts val="1805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6.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Write</a:t>
                      </a:r>
                      <a:r>
                        <a:rPr sz="16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Servlet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to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demonstrate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session</a:t>
                      </a:r>
                      <a:r>
                        <a:rPr sz="16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tracking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using</a:t>
                      </a:r>
                      <a:r>
                        <a:rPr sz="16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HttpSession.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marL="69850">
                        <a:lnSpc>
                          <a:spcPts val="1775"/>
                        </a:lnSpc>
                      </a:pPr>
                      <a:r>
                        <a:rPr sz="1600" b="1" dirty="0">
                          <a:latin typeface="Times New Roman"/>
                          <a:cs typeface="Times New Roman"/>
                        </a:rPr>
                        <a:t>Implement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simple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login</a:t>
                      </a:r>
                      <a:r>
                        <a:rPr sz="1600" b="1" spc="-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system</a:t>
                      </a:r>
                      <a:r>
                        <a:rPr sz="16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where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the</a:t>
                      </a:r>
                      <a:r>
                        <a:rPr sz="16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user&amp;#39;s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session</a:t>
                      </a:r>
                      <a:r>
                        <a:rPr sz="16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dirty="0">
                          <a:latin typeface="Times New Roman"/>
                          <a:cs typeface="Times New Roman"/>
                        </a:rPr>
                        <a:t>is</a:t>
                      </a:r>
                      <a:r>
                        <a:rPr sz="16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b="1" spc="-10" dirty="0">
                          <a:latin typeface="Times New Roman"/>
                          <a:cs typeface="Times New Roman"/>
                        </a:rPr>
                        <a:t>tracked.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444817" y="1470659"/>
            <a:ext cx="6650355" cy="3806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25" dirty="0">
                <a:latin typeface="Times New Roman"/>
                <a:cs typeface="Times New Roman"/>
              </a:rPr>
              <a:t>AIM</a:t>
            </a:r>
            <a:endParaRPr sz="1350">
              <a:latin typeface="Times New Roman"/>
              <a:cs typeface="Times New Roman"/>
            </a:endParaRPr>
          </a:p>
          <a:p>
            <a:pPr marL="12700" marR="467359">
              <a:lnSpc>
                <a:spcPts val="1430"/>
              </a:lnSpc>
              <a:spcBef>
                <a:spcPts val="1410"/>
              </a:spcBef>
            </a:pP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HttpSession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 </a:t>
            </a:r>
            <a:r>
              <a:rPr sz="1200" spc="-10" dirty="0">
                <a:latin typeface="Times New Roman"/>
                <a:cs typeface="Times New Roman"/>
              </a:rPr>
              <a:t>application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will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user's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state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multiple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of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portal.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260"/>
              </a:spcBef>
            </a:pPr>
            <a:r>
              <a:rPr sz="1350" b="1" spc="-10" dirty="0">
                <a:latin typeface="Times New Roman"/>
                <a:cs typeface="Times New Roman"/>
              </a:rPr>
              <a:t>ALGORITHM</a:t>
            </a:r>
            <a:endParaRPr sz="1350">
              <a:latin typeface="Times New Roman"/>
              <a:cs typeface="Times New Roman"/>
            </a:endParaRPr>
          </a:p>
          <a:p>
            <a:pPr marL="469900" indent="-228600">
              <a:lnSpc>
                <a:spcPts val="1420"/>
              </a:lnSpc>
              <a:spcBef>
                <a:spcPts val="1355"/>
              </a:spcBef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Input: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enters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their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credentials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page.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90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Session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Creation:</a:t>
            </a:r>
            <a:endParaRPr sz="1200">
              <a:latin typeface="Times New Roman"/>
              <a:cs typeface="Times New Roman"/>
            </a:endParaRPr>
          </a:p>
          <a:p>
            <a:pPr marL="926465" lvl="1" indent="-227965">
              <a:lnSpc>
                <a:spcPts val="1400"/>
              </a:lnSpc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sz="1200" dirty="0">
                <a:latin typeface="Times New Roman"/>
                <a:cs typeface="Times New Roman"/>
              </a:rPr>
              <a:t>Upon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authentication,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creates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using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request.getSession()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927100" marR="230504" lvl="1" indent="-228600">
              <a:lnSpc>
                <a:spcPts val="1400"/>
              </a:lnSpc>
              <a:spcBef>
                <a:spcPts val="75"/>
              </a:spcBef>
              <a:buSzPct val="83333"/>
              <a:buFont typeface="Courier New"/>
              <a:buChar char="o"/>
              <a:tabLst>
                <a:tab pos="927100" algn="l"/>
              </a:tabLst>
            </a:pP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user's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identity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stored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attribute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(e.g.,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session.setAttribute("user", name)</a:t>
            </a:r>
            <a:r>
              <a:rPr sz="1200" spc="-10" dirty="0">
                <a:latin typeface="Times New Roman"/>
                <a:cs typeface="Times New Roman"/>
              </a:rPr>
              <a:t>).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65"/>
              </a:lnSpc>
              <a:buFont typeface="Times New Roman"/>
              <a:buAutoNum type="arabicPeriod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Session</a:t>
            </a:r>
            <a:r>
              <a:rPr sz="1200" b="1" spc="-2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Tracking:</a:t>
            </a:r>
            <a:endParaRPr sz="1200">
              <a:latin typeface="Times New Roman"/>
              <a:cs typeface="Times New Roman"/>
            </a:endParaRPr>
          </a:p>
          <a:p>
            <a:pPr marL="927100" marR="352425" lvl="1" indent="-228600">
              <a:lnSpc>
                <a:spcPts val="1380"/>
              </a:lnSpc>
              <a:spcBef>
                <a:spcPts val="75"/>
              </a:spcBef>
              <a:buSzPct val="83333"/>
              <a:buFont typeface="Courier New"/>
              <a:buChar char="o"/>
              <a:tabLst>
                <a:tab pos="927100" algn="l"/>
              </a:tabLst>
            </a:pPr>
            <a:r>
              <a:rPr sz="1200" dirty="0">
                <a:latin typeface="Times New Roman"/>
                <a:cs typeface="Times New Roman"/>
              </a:rPr>
              <a:t>When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navigates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Dashboard,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checks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valid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session exists.</a:t>
            </a:r>
            <a:endParaRPr sz="1200">
              <a:latin typeface="Times New Roman"/>
              <a:cs typeface="Times New Roman"/>
            </a:endParaRPr>
          </a:p>
          <a:p>
            <a:pPr marL="926465" lvl="1" indent="-227965">
              <a:lnSpc>
                <a:spcPts val="1325"/>
              </a:lnSpc>
              <a:buSzPct val="83333"/>
              <a:buFont typeface="Courier New"/>
              <a:buChar char="o"/>
              <a:tabLst>
                <a:tab pos="926465" algn="l"/>
              </a:tabLst>
            </a:pPr>
            <a:r>
              <a:rPr sz="1200" dirty="0">
                <a:latin typeface="Times New Roman"/>
                <a:cs typeface="Times New Roman"/>
              </a:rPr>
              <a:t>If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session.getAttribute("user")</a:t>
            </a:r>
            <a:r>
              <a:rPr sz="1000" spc="-295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not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null,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 dashboard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displayed;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otherwise,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the</a:t>
            </a:r>
            <a:endParaRPr sz="1200">
              <a:latin typeface="Times New Roman"/>
              <a:cs typeface="Times New Roman"/>
            </a:endParaRPr>
          </a:p>
          <a:p>
            <a:pPr marL="927100">
              <a:lnSpc>
                <a:spcPts val="1400"/>
              </a:lnSpc>
            </a:pP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10" dirty="0">
                <a:latin typeface="Times New Roman"/>
                <a:cs typeface="Times New Roman"/>
              </a:rPr>
              <a:t> redirected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page.</a:t>
            </a:r>
            <a:endParaRPr sz="1200">
              <a:latin typeface="Times New Roman"/>
              <a:cs typeface="Times New Roman"/>
            </a:endParaRPr>
          </a:p>
          <a:p>
            <a:pPr marL="469900" indent="-228600">
              <a:lnSpc>
                <a:spcPts val="1375"/>
              </a:lnSpc>
              <a:buFont typeface="Times New Roman"/>
              <a:buAutoNum type="arabicPeriod" startAt="4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Session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Termination:</a:t>
            </a:r>
            <a:r>
              <a:rPr sz="1200" b="1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"Logout"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button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invalidate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</a:t>
            </a:r>
            <a:endParaRPr sz="1200">
              <a:latin typeface="Times New Roman"/>
              <a:cs typeface="Times New Roman"/>
            </a:endParaRPr>
          </a:p>
          <a:p>
            <a:pPr marL="469900">
              <a:lnSpc>
                <a:spcPts val="1400"/>
              </a:lnSpc>
            </a:pPr>
            <a:r>
              <a:rPr sz="1000" spc="-10" dirty="0">
                <a:latin typeface="Courier New"/>
                <a:cs typeface="Courier New"/>
              </a:rPr>
              <a:t>session.invalidate()</a:t>
            </a:r>
            <a:r>
              <a:rPr sz="1200" spc="-10" dirty="0">
                <a:latin typeface="Times New Roman"/>
                <a:cs typeface="Times New Roman"/>
              </a:rPr>
              <a:t>,</a:t>
            </a:r>
            <a:r>
              <a:rPr sz="1200" dirty="0">
                <a:latin typeface="Times New Roman"/>
                <a:cs typeface="Times New Roman"/>
              </a:rPr>
              <a:t> ensuring 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 is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logged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out.</a:t>
            </a:r>
            <a:endParaRPr sz="1200">
              <a:latin typeface="Times New Roman"/>
              <a:cs typeface="Times New Roman"/>
            </a:endParaRPr>
          </a:p>
          <a:p>
            <a:pPr marL="469900" marR="5080" indent="-228600">
              <a:lnSpc>
                <a:spcPts val="1430"/>
              </a:lnSpc>
              <a:spcBef>
                <a:spcPts val="50"/>
              </a:spcBef>
              <a:buFont typeface="Times New Roman"/>
              <a:buAutoNum type="arabicPeriod" startAt="5"/>
              <a:tabLst>
                <a:tab pos="469900" algn="l"/>
              </a:tabLst>
            </a:pPr>
            <a:r>
              <a:rPr sz="1200" b="1" dirty="0">
                <a:latin typeface="Times New Roman"/>
                <a:cs typeface="Times New Roman"/>
              </a:rPr>
              <a:t>Deployment: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Compile the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Servlet,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map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 in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web.xml</a:t>
            </a:r>
            <a:r>
              <a:rPr sz="1000" spc="-300" dirty="0">
                <a:latin typeface="Courier New"/>
                <a:cs typeface="Courier New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or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via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annotations,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deploy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Apache Tomcat.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817" y="5770879"/>
            <a:ext cx="6656705" cy="4335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latin typeface="Times New Roman"/>
                <a:cs typeface="Times New Roman"/>
              </a:rPr>
              <a:t>SOURCE</a:t>
            </a:r>
            <a:r>
              <a:rPr sz="1350" b="1" spc="10" dirty="0">
                <a:latin typeface="Times New Roman"/>
                <a:cs typeface="Times New Roman"/>
              </a:rPr>
              <a:t> </a:t>
            </a:r>
            <a:r>
              <a:rPr sz="1350" b="1" spc="-20" dirty="0">
                <a:latin typeface="Times New Roman"/>
                <a:cs typeface="Times New Roman"/>
              </a:rPr>
              <a:t>CODE</a:t>
            </a:r>
            <a:endParaRPr sz="13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sz="1200" b="1" dirty="0">
                <a:latin typeface="Times New Roman"/>
                <a:cs typeface="Times New Roman"/>
              </a:rPr>
              <a:t>A.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HTML</a:t>
            </a:r>
            <a:r>
              <a:rPr sz="1200" b="1" spc="-2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File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(index.html)</a:t>
            </a:r>
            <a:endParaRPr sz="1200">
              <a:latin typeface="Times New Roman"/>
              <a:cs typeface="Times New Roman"/>
            </a:endParaRPr>
          </a:p>
          <a:p>
            <a:pPr marL="12700" marR="3027045">
              <a:lnSpc>
                <a:spcPts val="2800"/>
              </a:lnSpc>
              <a:spcBef>
                <a:spcPts val="29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provides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login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interface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portal. </a:t>
            </a:r>
            <a:r>
              <a:rPr sz="1200" spc="-20" dirty="0">
                <a:latin typeface="Times New Roman"/>
                <a:cs typeface="Times New Roman"/>
              </a:rPr>
              <a:t>HTML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680"/>
              </a:lnSpc>
            </a:pPr>
            <a:r>
              <a:rPr sz="1000" dirty="0">
                <a:latin typeface="Courier New"/>
                <a:cs typeface="Courier New"/>
              </a:rPr>
              <a:t>&lt;!DOCTYPE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spc="-10" dirty="0">
                <a:latin typeface="Courier New"/>
                <a:cs typeface="Courier New"/>
              </a:rPr>
              <a:t>&lt;html&gt;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spc="-10" dirty="0">
                <a:latin typeface="Courier New"/>
                <a:cs typeface="Courier New"/>
              </a:rPr>
              <a:t>&lt;head&gt;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&lt;title&gt;Weather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Portal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|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Login&lt;/title&gt;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&lt;style&gt;</a:t>
            </a:r>
            <a:endParaRPr sz="1000">
              <a:latin typeface="Courier New"/>
              <a:cs typeface="Courier New"/>
            </a:endParaRPr>
          </a:p>
          <a:p>
            <a:pPr marL="12700" marR="5080" indent="609600">
              <a:lnSpc>
                <a:spcPts val="115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body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font-</a:t>
            </a:r>
            <a:r>
              <a:rPr sz="1000" dirty="0">
                <a:latin typeface="Courier New"/>
                <a:cs typeface="Courier New"/>
              </a:rPr>
              <a:t>family: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'Segoe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UI',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sans-</a:t>
            </a:r>
            <a:r>
              <a:rPr sz="1000" dirty="0">
                <a:latin typeface="Courier New"/>
                <a:cs typeface="Courier New"/>
              </a:rPr>
              <a:t>serif;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background: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#f0f2f5;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display:</a:t>
            </a:r>
            <a:r>
              <a:rPr sz="1000" spc="-20" dirty="0">
                <a:latin typeface="Courier New"/>
                <a:cs typeface="Courier New"/>
              </a:rPr>
              <a:t> flex; </a:t>
            </a:r>
            <a:r>
              <a:rPr sz="1000" spc="-10" dirty="0">
                <a:latin typeface="Courier New"/>
                <a:cs typeface="Courier New"/>
              </a:rPr>
              <a:t>justify-</a:t>
            </a:r>
            <a:r>
              <a:rPr sz="1000" dirty="0">
                <a:latin typeface="Courier New"/>
                <a:cs typeface="Courier New"/>
              </a:rPr>
              <a:t>content: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center;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align-</a:t>
            </a:r>
            <a:r>
              <a:rPr sz="1000" dirty="0">
                <a:latin typeface="Courier New"/>
                <a:cs typeface="Courier New"/>
              </a:rPr>
              <a:t>items: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center;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height: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100vh;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margin: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60"/>
              </a:lnSpc>
            </a:pPr>
            <a:r>
              <a:rPr sz="1000" spc="-10" dirty="0">
                <a:latin typeface="Courier New"/>
                <a:cs typeface="Courier New"/>
              </a:rPr>
              <a:t>.login-</a:t>
            </a:r>
            <a:r>
              <a:rPr sz="1000" dirty="0">
                <a:latin typeface="Courier New"/>
                <a:cs typeface="Courier New"/>
              </a:rPr>
              <a:t>card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background: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white;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padding: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30px;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border-</a:t>
            </a:r>
            <a:r>
              <a:rPr sz="1000" dirty="0">
                <a:latin typeface="Courier New"/>
                <a:cs typeface="Courier New"/>
              </a:rPr>
              <a:t>radius: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12px;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20" dirty="0">
                <a:latin typeface="Courier New"/>
                <a:cs typeface="Courier New"/>
              </a:rPr>
              <a:t>box-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shadow: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4px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12px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rgba(0,0,0,0.1);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300px;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text-</a:t>
            </a:r>
            <a:r>
              <a:rPr sz="1000" dirty="0">
                <a:latin typeface="Courier New"/>
                <a:cs typeface="Courier New"/>
              </a:rPr>
              <a:t>align: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center;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 marR="311150" indent="609600">
              <a:lnSpc>
                <a:spcPts val="1130"/>
              </a:lnSpc>
              <a:spcBef>
                <a:spcPts val="70"/>
              </a:spcBef>
            </a:pPr>
            <a:r>
              <a:rPr sz="1000" dirty="0">
                <a:latin typeface="Courier New"/>
                <a:cs typeface="Courier New"/>
              </a:rPr>
              <a:t>input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100%;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padding: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10px;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margin: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10px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0;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border: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1px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solid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#ddd; border-</a:t>
            </a:r>
            <a:r>
              <a:rPr sz="1000" dirty="0">
                <a:latin typeface="Courier New"/>
                <a:cs typeface="Courier New"/>
              </a:rPr>
              <a:t>radius: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6px; </a:t>
            </a:r>
            <a:r>
              <a:rPr sz="1000" spc="-10" dirty="0">
                <a:latin typeface="Courier New"/>
                <a:cs typeface="Courier New"/>
              </a:rPr>
              <a:t>box-</a:t>
            </a:r>
            <a:r>
              <a:rPr sz="1000" dirty="0">
                <a:latin typeface="Courier New"/>
                <a:cs typeface="Courier New"/>
              </a:rPr>
              <a:t>sizing: </a:t>
            </a:r>
            <a:r>
              <a:rPr sz="1000" spc="-10" dirty="0">
                <a:latin typeface="Courier New"/>
                <a:cs typeface="Courier New"/>
              </a:rPr>
              <a:t>border-</a:t>
            </a:r>
            <a:r>
              <a:rPr sz="1000" dirty="0">
                <a:latin typeface="Courier New"/>
                <a:cs typeface="Courier New"/>
              </a:rPr>
              <a:t>box; </a:t>
            </a: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70"/>
              </a:lnSpc>
            </a:pPr>
            <a:r>
              <a:rPr sz="1000" dirty="0">
                <a:latin typeface="Courier New"/>
                <a:cs typeface="Courier New"/>
              </a:rPr>
              <a:t>.btn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{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width: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100%;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padding: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10px;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background: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#007bff;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color: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white;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border: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none;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border-</a:t>
            </a:r>
            <a:r>
              <a:rPr sz="1000" dirty="0">
                <a:latin typeface="Courier New"/>
                <a:cs typeface="Courier New"/>
              </a:rPr>
              <a:t>radius: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6px;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cursor: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pointer;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&lt;/style&gt;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&lt;/head&gt;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&lt;body&gt;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60"/>
              </a:lnSpc>
            </a:pPr>
            <a:r>
              <a:rPr sz="1000" dirty="0">
                <a:latin typeface="Courier New"/>
                <a:cs typeface="Courier New"/>
              </a:rPr>
              <a:t>&lt;div</a:t>
            </a:r>
            <a:r>
              <a:rPr sz="1000" spc="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class="login-card"&gt;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  <a:spcBef>
                <a:spcPts val="175"/>
              </a:spcBef>
            </a:pPr>
            <a:r>
              <a:rPr sz="1000" dirty="0">
                <a:latin typeface="Courier New"/>
                <a:cs typeface="Courier New"/>
              </a:rPr>
              <a:t>&lt;h2&gt;</a:t>
            </a:r>
            <a:r>
              <a:rPr sz="1000" dirty="0">
                <a:latin typeface="Segoe UI Symbol"/>
                <a:cs typeface="Segoe UI Symbol"/>
              </a:rPr>
              <a:t>🌤</a:t>
            </a:r>
            <a:r>
              <a:rPr sz="1000" spc="300" dirty="0">
                <a:latin typeface="Segoe UI Symbol"/>
                <a:cs typeface="Segoe UI Symbol"/>
              </a:rPr>
              <a:t> </a:t>
            </a:r>
            <a:r>
              <a:rPr sz="1000" dirty="0">
                <a:latin typeface="Courier New"/>
                <a:cs typeface="Courier New"/>
              </a:rPr>
              <a:t>Weather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Login&lt;/h2&gt;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&lt;form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action="SessionServlet"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method="POST"&gt;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40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type="text"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name="name"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placeholder="Username"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required&gt;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type="password"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name="password"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placeholder="Password"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required&gt;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422656"/>
            <a:ext cx="6350000" cy="9667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ts val="1165"/>
              </a:lnSpc>
              <a:spcBef>
                <a:spcPts val="100"/>
              </a:spcBef>
            </a:pPr>
            <a:r>
              <a:rPr sz="1000" dirty="0">
                <a:latin typeface="Courier New"/>
                <a:cs typeface="Courier New"/>
              </a:rPr>
              <a:t>&lt;input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type="submit"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class="btn"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value="Login"&gt;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&lt;/form&gt;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spc="-10" dirty="0">
                <a:latin typeface="Courier New"/>
                <a:cs typeface="Courier New"/>
              </a:rPr>
              <a:t>&lt;/div&gt;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spc="-10" dirty="0">
                <a:latin typeface="Courier New"/>
                <a:cs typeface="Courier New"/>
              </a:rPr>
              <a:t>&lt;/body&gt;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10" dirty="0">
                <a:latin typeface="Courier New"/>
                <a:cs typeface="Courier New"/>
              </a:rPr>
              <a:t>&lt;/html&gt;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Java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File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(SessionServlet.java)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manages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creation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and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dashboard.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  <a:spcBef>
                <a:spcPts val="1335"/>
              </a:spcBef>
            </a:pPr>
            <a:r>
              <a:rPr sz="1200" spc="-20" dirty="0">
                <a:latin typeface="Times New Roman"/>
                <a:cs typeface="Times New Roman"/>
              </a:rPr>
              <a:t>Java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080"/>
              </a:lnSpc>
            </a:pPr>
            <a:r>
              <a:rPr sz="1000" dirty="0">
                <a:latin typeface="Courier New"/>
                <a:cs typeface="Courier New"/>
              </a:rPr>
              <a:t>import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java.io.*;</a:t>
            </a:r>
            <a:endParaRPr sz="1000">
              <a:latin typeface="Courier New"/>
              <a:cs typeface="Courier New"/>
            </a:endParaRPr>
          </a:p>
          <a:p>
            <a:pPr marL="12700" marR="4043679">
              <a:lnSpc>
                <a:spcPts val="115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import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jakarta.servlet.*; </a:t>
            </a:r>
            <a:r>
              <a:rPr sz="1000" dirty="0">
                <a:latin typeface="Courier New"/>
                <a:cs typeface="Courier New"/>
              </a:rPr>
              <a:t>import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jakarta.servlet.http.*;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import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jakarta.servlet.annotation.WebServlet;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  <a:spcBef>
                <a:spcPts val="1075"/>
              </a:spcBef>
            </a:pPr>
            <a:r>
              <a:rPr sz="1000" spc="-10" dirty="0">
                <a:latin typeface="Courier New"/>
                <a:cs typeface="Courier New"/>
              </a:rPr>
              <a:t>@WebServlet("/SessionServlet")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public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SessionServlet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extends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HttpServlet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 marR="5080" indent="-610235">
              <a:lnSpc>
                <a:spcPts val="1150"/>
              </a:lnSpc>
              <a:spcBef>
                <a:spcPts val="45"/>
              </a:spcBef>
            </a:pPr>
            <a:r>
              <a:rPr sz="1000" dirty="0">
                <a:latin typeface="Courier New"/>
                <a:cs typeface="Courier New"/>
              </a:rPr>
              <a:t>protected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void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doPost(HttpServletRequest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request,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HttpServletResponse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response) </a:t>
            </a:r>
            <a:r>
              <a:rPr sz="1000" dirty="0">
                <a:latin typeface="Courier New"/>
                <a:cs typeface="Courier New"/>
              </a:rPr>
              <a:t>throws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ServletException,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IOException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60"/>
              </a:lnSpc>
            </a:pPr>
            <a:r>
              <a:rPr sz="1000" spc="-10" dirty="0">
                <a:latin typeface="Courier New"/>
                <a:cs typeface="Courier New"/>
              </a:rPr>
              <a:t>response.setContentType("text/html");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PrintWriter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out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response.getWriter();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000">
              <a:latin typeface="Courier New"/>
              <a:cs typeface="Courier New"/>
            </a:endParaRPr>
          </a:p>
          <a:p>
            <a:pPr marL="622300" marR="2138680">
              <a:lnSpc>
                <a:spcPts val="1130"/>
              </a:lnSpc>
            </a:pP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request.getParameter("name"); </a:t>
            </a: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pass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request.getParameter("password");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  <a:spcBef>
                <a:spcPts val="1045"/>
              </a:spcBef>
            </a:pPr>
            <a:r>
              <a:rPr sz="1000" dirty="0">
                <a:latin typeface="Courier New"/>
                <a:cs typeface="Courier New"/>
              </a:rPr>
              <a:t>if(pass.equals("admin123"))</a:t>
            </a:r>
            <a:r>
              <a:rPr sz="1000" spc="-14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 marR="2138045">
              <a:lnSpc>
                <a:spcPct val="94500"/>
              </a:lnSpc>
              <a:spcBef>
                <a:spcPts val="30"/>
              </a:spcBef>
            </a:pPr>
            <a:r>
              <a:rPr sz="1000" dirty="0">
                <a:latin typeface="Courier New"/>
                <a:cs typeface="Courier New"/>
              </a:rPr>
              <a:t>//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Create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session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store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user</a:t>
            </a:r>
            <a:r>
              <a:rPr sz="1000" spc="-20" dirty="0">
                <a:latin typeface="Courier New"/>
                <a:cs typeface="Courier New"/>
              </a:rPr>
              <a:t> info </a:t>
            </a:r>
            <a:r>
              <a:rPr sz="1000" dirty="0">
                <a:latin typeface="Courier New"/>
                <a:cs typeface="Courier New"/>
              </a:rPr>
              <a:t>HttpSession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session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request.getSession(); </a:t>
            </a:r>
            <a:r>
              <a:rPr sz="1000" dirty="0">
                <a:latin typeface="Courier New"/>
                <a:cs typeface="Courier New"/>
              </a:rPr>
              <a:t>session.setAttribute("user",</a:t>
            </a:r>
            <a:r>
              <a:rPr sz="1000" spc="-1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name); response.sendRedirect("DashboardServlet");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00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 marR="80645">
              <a:lnSpc>
                <a:spcPts val="1130"/>
              </a:lnSpc>
              <a:spcBef>
                <a:spcPts val="70"/>
              </a:spcBef>
            </a:pPr>
            <a:r>
              <a:rPr sz="1000" dirty="0">
                <a:latin typeface="Courier New"/>
                <a:cs typeface="Courier New"/>
              </a:rPr>
              <a:t>out.print("&lt;p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style='color:red'&gt;Invalid</a:t>
            </a:r>
            <a:r>
              <a:rPr sz="1000" spc="-9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Password!&lt;/p&gt;"); request.getRequestDispatcher("index.html").include(request,</a:t>
            </a:r>
            <a:r>
              <a:rPr sz="1000" spc="28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response);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7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95"/>
              </a:spcBef>
            </a:pP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Times New Roman"/>
                <a:cs typeface="Times New Roman"/>
              </a:rPr>
              <a:t>Java</a:t>
            </a:r>
            <a:r>
              <a:rPr sz="1200" b="1" spc="-3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File</a:t>
            </a:r>
            <a:r>
              <a:rPr sz="1200" b="1" spc="-40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(DashboardServlet.java)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sz="1200" dirty="0">
                <a:latin typeface="Times New Roman"/>
                <a:cs typeface="Times New Roman"/>
              </a:rPr>
              <a:t>This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verifies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before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showing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data.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360"/>
              </a:lnSpc>
              <a:spcBef>
                <a:spcPts val="1360"/>
              </a:spcBef>
            </a:pPr>
            <a:r>
              <a:rPr sz="1200" spc="-20" dirty="0">
                <a:latin typeface="Times New Roman"/>
                <a:cs typeface="Times New Roman"/>
              </a:rPr>
              <a:t>Java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ts val="1080"/>
              </a:lnSpc>
            </a:pPr>
            <a:r>
              <a:rPr sz="1000" spc="-10" dirty="0">
                <a:latin typeface="Courier New"/>
                <a:cs typeface="Courier New"/>
              </a:rPr>
              <a:t>@WebServlet("/DashboardServlet")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dirty="0">
                <a:latin typeface="Courier New"/>
                <a:cs typeface="Courier New"/>
              </a:rPr>
              <a:t>public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class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DashboardServlet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extends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HttpServlet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 marR="81280" indent="-610235">
              <a:lnSpc>
                <a:spcPts val="1150"/>
              </a:lnSpc>
              <a:spcBef>
                <a:spcPts val="45"/>
              </a:spcBef>
            </a:pPr>
            <a:r>
              <a:rPr sz="1000" dirty="0">
                <a:latin typeface="Courier New"/>
                <a:cs typeface="Courier New"/>
              </a:rPr>
              <a:t>protected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void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doGet(HttpServletRequest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request,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HttpServletResponse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response) </a:t>
            </a:r>
            <a:r>
              <a:rPr sz="1000" dirty="0">
                <a:latin typeface="Courier New"/>
                <a:cs typeface="Courier New"/>
              </a:rPr>
              <a:t>throws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ServletException,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IOException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55"/>
              </a:lnSpc>
            </a:pPr>
            <a:r>
              <a:rPr sz="1000" spc="-10" dirty="0">
                <a:latin typeface="Courier New"/>
                <a:cs typeface="Courier New"/>
              </a:rPr>
              <a:t>response.setContentType("text/html");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PrintWriter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out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response.getWriter();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  <a:spcBef>
                <a:spcPts val="1075"/>
              </a:spcBef>
            </a:pPr>
            <a:r>
              <a:rPr sz="1000" dirty="0">
                <a:latin typeface="Courier New"/>
                <a:cs typeface="Courier New"/>
              </a:rPr>
              <a:t>HttpSession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session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request.getSession(false);</a:t>
            </a:r>
            <a:endParaRPr sz="1000">
              <a:latin typeface="Courier New"/>
              <a:cs typeface="Courier New"/>
            </a:endParaRPr>
          </a:p>
          <a:p>
            <a:pPr marL="927100" marR="995044" indent="-305435">
              <a:lnSpc>
                <a:spcPts val="1150"/>
              </a:lnSpc>
              <a:spcBef>
                <a:spcPts val="40"/>
              </a:spcBef>
            </a:pPr>
            <a:r>
              <a:rPr sz="1000" dirty="0">
                <a:latin typeface="Courier New"/>
                <a:cs typeface="Courier New"/>
              </a:rPr>
              <a:t>if</a:t>
            </a:r>
            <a:r>
              <a:rPr sz="1000" spc="-4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(session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!=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null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&amp;&amp;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session.getAttribute("user")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!=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null)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 </a:t>
            </a:r>
            <a:r>
              <a:rPr sz="1000" dirty="0">
                <a:latin typeface="Courier New"/>
                <a:cs typeface="Courier New"/>
              </a:rPr>
              <a:t>String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=</a:t>
            </a:r>
            <a:r>
              <a:rPr sz="1000" spc="-2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(String)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session.getAttribute("user");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055"/>
              </a:lnSpc>
            </a:pPr>
            <a:r>
              <a:rPr sz="1000" dirty="0">
                <a:latin typeface="Courier New"/>
                <a:cs typeface="Courier New"/>
              </a:rPr>
              <a:t>out.println("&lt;body</a:t>
            </a:r>
            <a:r>
              <a:rPr sz="1000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style='text-</a:t>
            </a:r>
            <a:r>
              <a:rPr sz="1000" dirty="0">
                <a:latin typeface="Courier New"/>
                <a:cs typeface="Courier New"/>
              </a:rPr>
              <a:t>align:center;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padding-top:50px;'&gt;");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65"/>
              </a:lnSpc>
            </a:pPr>
            <a:r>
              <a:rPr sz="1000" dirty="0">
                <a:latin typeface="Courier New"/>
                <a:cs typeface="Courier New"/>
              </a:rPr>
              <a:t>out.println("&lt;h1&gt;Welcome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to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Weather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Dashboard,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"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name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+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"!&lt;/h1&gt;");</a:t>
            </a:r>
            <a:endParaRPr sz="1000">
              <a:latin typeface="Courier New"/>
              <a:cs typeface="Courier New"/>
            </a:endParaRPr>
          </a:p>
          <a:p>
            <a:pPr marL="927100" marR="1352550">
              <a:lnSpc>
                <a:spcPts val="1130"/>
              </a:lnSpc>
              <a:spcBef>
                <a:spcPts val="300"/>
              </a:spcBef>
            </a:pPr>
            <a:r>
              <a:rPr sz="1000" dirty="0">
                <a:latin typeface="Courier New"/>
                <a:cs typeface="Courier New"/>
              </a:rPr>
              <a:t>out.println("&lt;p&gt;Current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Weather: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25°C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Sunny</a:t>
            </a:r>
            <a:r>
              <a:rPr sz="1000" spc="-40" dirty="0">
                <a:latin typeface="Courier New"/>
                <a:cs typeface="Courier New"/>
              </a:rPr>
              <a:t> </a:t>
            </a:r>
            <a:r>
              <a:rPr sz="1000" spc="45" dirty="0">
                <a:solidFill>
                  <a:srgbClr val="FBD43E"/>
                </a:solidFill>
                <a:latin typeface="Segoe UI Emoji"/>
                <a:cs typeface="Segoe UI Emoji"/>
              </a:rPr>
              <a:t>●</a:t>
            </a:r>
            <a:r>
              <a:rPr sz="1000" spc="45" dirty="0">
                <a:latin typeface="Courier New"/>
                <a:cs typeface="Courier New"/>
              </a:rPr>
              <a:t>&lt;/p&gt;"); </a:t>
            </a:r>
            <a:r>
              <a:rPr sz="1000" dirty="0">
                <a:latin typeface="Courier New"/>
                <a:cs typeface="Courier New"/>
              </a:rPr>
              <a:t>out.println("&lt;a</a:t>
            </a:r>
            <a:r>
              <a:rPr sz="1000" spc="-7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href='LogoutServlet'&gt;Logout&lt;/a&gt;"); out.println("&lt;/body&gt;");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65"/>
              </a:lnSpc>
            </a:pPr>
            <a:r>
              <a:rPr sz="1000" dirty="0">
                <a:latin typeface="Courier New"/>
                <a:cs typeface="Courier New"/>
              </a:rPr>
              <a:t>}</a:t>
            </a:r>
            <a:r>
              <a:rPr sz="1000" spc="-1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else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 marR="80645">
              <a:lnSpc>
                <a:spcPts val="1130"/>
              </a:lnSpc>
              <a:spcBef>
                <a:spcPts val="70"/>
              </a:spcBef>
            </a:pPr>
            <a:r>
              <a:rPr sz="1000" dirty="0">
                <a:latin typeface="Courier New"/>
                <a:cs typeface="Courier New"/>
              </a:rPr>
              <a:t>out.print("Please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login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first!"); request.getRequestDispatcher("index.html").include(request,</a:t>
            </a:r>
            <a:r>
              <a:rPr sz="1000" spc="28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response);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7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40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1159256"/>
            <a:ext cx="79692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latin typeface="Times New Roman"/>
                <a:cs typeface="Times New Roman"/>
              </a:rPr>
              <a:t>OUTPUT:</a:t>
            </a:r>
            <a:endParaRPr sz="13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2311400"/>
            <a:ext cx="6638925" cy="31609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0446A7-59E9-7A10-0623-6934477692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17" y="2070100"/>
            <a:ext cx="6638926" cy="34022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D401EC1-28D7-595F-9243-0481D8A95AE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17" y="6011448"/>
            <a:ext cx="6638926" cy="392537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817" y="2175509"/>
            <a:ext cx="6186805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10" dirty="0">
                <a:latin typeface="Times New Roman"/>
                <a:cs typeface="Times New Roman"/>
              </a:rPr>
              <a:t>RESULT</a:t>
            </a:r>
            <a:endParaRPr sz="1350">
              <a:latin typeface="Times New Roman"/>
              <a:cs typeface="Times New Roman"/>
            </a:endParaRPr>
          </a:p>
          <a:p>
            <a:pPr marL="12700" marR="5080">
              <a:lnSpc>
                <a:spcPct val="97200"/>
              </a:lnSpc>
              <a:spcBef>
                <a:spcPts val="1395"/>
              </a:spcBef>
            </a:pPr>
            <a:r>
              <a:rPr sz="1200" dirty="0">
                <a:latin typeface="Times New Roman"/>
                <a:cs typeface="Times New Roman"/>
              </a:rPr>
              <a:t>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Java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Servlet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was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successfully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implemented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to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demonstrate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session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tracking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using </a:t>
            </a:r>
            <a:r>
              <a:rPr sz="1000" dirty="0">
                <a:latin typeface="Courier New"/>
                <a:cs typeface="Courier New"/>
              </a:rPr>
              <a:t>HttpSession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The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application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effectively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maintained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user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data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across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different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pages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within</a:t>
            </a:r>
            <a:r>
              <a:rPr sz="1200" spc="-25" dirty="0">
                <a:latin typeface="Times New Roman"/>
                <a:cs typeface="Times New Roman"/>
              </a:rPr>
              <a:t> the </a:t>
            </a:r>
            <a:r>
              <a:rPr sz="1200" dirty="0">
                <a:latin typeface="Times New Roman"/>
                <a:cs typeface="Times New Roman"/>
              </a:rPr>
              <a:t>Weather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Information</a:t>
            </a:r>
            <a:r>
              <a:rPr sz="1200" spc="-7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portal.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885</Words>
  <Application>Microsoft Office PowerPoint</Application>
  <PresentationFormat>Custom</PresentationFormat>
  <Paragraphs>86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Calibri</vt:lpstr>
      <vt:lpstr>Courier New</vt:lpstr>
      <vt:lpstr>Segoe UI Emoji</vt:lpstr>
      <vt:lpstr>Segoe UI Symbol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cp:lastModifiedBy>SURIYA T</cp:lastModifiedBy>
  <cp:revision>1</cp:revision>
  <dcterms:created xsi:type="dcterms:W3CDTF">2026-05-06T03:33:32Z</dcterms:created>
  <dcterms:modified xsi:type="dcterms:W3CDTF">2026-05-06T03:48:53Z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2026-03-16T00:00:00Z</vt:filetime>
  </property>
  <property fmtid="{D5CDD505-2E9C-101B-9397-08002B2CF9AE}" pid="4" name="Creator">
    <vt:lpwstr>Microsoft Word</vt:lpwstr>
  </property>
  <property fmtid="{D5CDD505-2E9C-101B-9397-08002B2CF9AE}" pid="5" name="LastSaved">
    <vt:filetime>2026-05-06T00:00:00Z</vt:filetime>
  </property>
</Properties>
</file>