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7569200" cy="10693400"/>
  <p:notesSz cx="7569200" cy="10693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66" d="100"/>
          <a:sy n="66" d="100"/>
        </p:scale>
        <p:origin x="1430" y="-33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RIYA T" userId="2d8c54d4828ef1cf" providerId="LiveId" clId="{87B3DC7B-09BD-4142-9DDE-040FAA37A2EE}"/>
    <pc:docChg chg="custSel modSld">
      <pc:chgData name="SURIYA T" userId="2d8c54d4828ef1cf" providerId="LiveId" clId="{87B3DC7B-09BD-4142-9DDE-040FAA37A2EE}" dt="2026-05-06T04:00:56.294" v="9" actId="1076"/>
      <pc:docMkLst>
        <pc:docMk/>
      </pc:docMkLst>
      <pc:sldChg chg="addSp delSp modSp mod">
        <pc:chgData name="SURIYA T" userId="2d8c54d4828ef1cf" providerId="LiveId" clId="{87B3DC7B-09BD-4142-9DDE-040FAA37A2EE}" dt="2026-05-06T04:00:56.294" v="9" actId="1076"/>
        <pc:sldMkLst>
          <pc:docMk/>
          <pc:sldMk cId="0" sldId="262"/>
        </pc:sldMkLst>
        <pc:picChg chg="mod">
          <ac:chgData name="SURIYA T" userId="2d8c54d4828ef1cf" providerId="LiveId" clId="{87B3DC7B-09BD-4142-9DDE-040FAA37A2EE}" dt="2026-05-06T04:00:56.294" v="9" actId="1076"/>
          <ac:picMkLst>
            <pc:docMk/>
            <pc:sldMk cId="0" sldId="262"/>
            <ac:picMk id="4" creationId="{00000000-0000-0000-0000-000000000000}"/>
          </ac:picMkLst>
        </pc:picChg>
        <pc:picChg chg="add del mod">
          <ac:chgData name="SURIYA T" userId="2d8c54d4828ef1cf" providerId="LiveId" clId="{87B3DC7B-09BD-4142-9DDE-040FAA37A2EE}" dt="2026-05-06T04:00:23.492" v="2" actId="478"/>
          <ac:picMkLst>
            <pc:docMk/>
            <pc:sldMk cId="0" sldId="262"/>
            <ac:picMk id="6" creationId="{0CA3BE2D-EF07-3A31-FBEC-FFA482DCD884}"/>
          </ac:picMkLst>
        </pc:picChg>
        <pc:picChg chg="add mod">
          <ac:chgData name="SURIYA T" userId="2d8c54d4828ef1cf" providerId="LiveId" clId="{87B3DC7B-09BD-4142-9DDE-040FAA37A2EE}" dt="2026-05-06T04:00:49.871" v="8" actId="14100"/>
          <ac:picMkLst>
            <pc:docMk/>
            <pc:sldMk cId="0" sldId="262"/>
            <ac:picMk id="8" creationId="{060F2F78-3476-3701-EAC1-CEB48A3C340B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690" y="3314954"/>
            <a:ext cx="6433820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5380" y="5988304"/>
            <a:ext cx="5298440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8460" y="2459482"/>
            <a:ext cx="329260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8138" y="2459482"/>
            <a:ext cx="329260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460" y="427736"/>
            <a:ext cx="6812280" cy="17109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460" y="2459482"/>
            <a:ext cx="6812280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73528" y="9944862"/>
            <a:ext cx="242214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8460" y="9944862"/>
            <a:ext cx="1740916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49824" y="9944862"/>
            <a:ext cx="1740916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1700" y="871903"/>
            <a:ext cx="5756275" cy="87598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6985" indent="249554" algn="just">
              <a:lnSpc>
                <a:spcPct val="109800"/>
              </a:lnSpc>
              <a:spcBef>
                <a:spcPts val="100"/>
              </a:spcBef>
              <a:buAutoNum type="arabicPeriod" startAt="8"/>
              <a:tabLst>
                <a:tab pos="262255" algn="l"/>
              </a:tabLst>
            </a:pPr>
            <a:r>
              <a:rPr sz="1600" b="1" dirty="0">
                <a:latin typeface="Calibri"/>
                <a:cs typeface="Calibri"/>
              </a:rPr>
              <a:t>Consider</a:t>
            </a:r>
            <a:r>
              <a:rPr sz="1600" b="1" spc="30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a</a:t>
            </a:r>
            <a:r>
              <a:rPr sz="1600" b="1" spc="30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Library</a:t>
            </a:r>
            <a:r>
              <a:rPr sz="1600" b="1" spc="30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Management</a:t>
            </a:r>
            <a:r>
              <a:rPr sz="1600" b="1" spc="30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System.</a:t>
            </a:r>
            <a:r>
              <a:rPr sz="1600" b="1" spc="30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Develop</a:t>
            </a:r>
            <a:r>
              <a:rPr sz="1600" b="1" spc="23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a</a:t>
            </a:r>
            <a:r>
              <a:rPr sz="1600" b="1" spc="235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JavaScript </a:t>
            </a:r>
            <a:r>
              <a:rPr sz="1600" b="1" dirty="0">
                <a:latin typeface="Calibri"/>
                <a:cs typeface="Calibri"/>
              </a:rPr>
              <a:t>program</a:t>
            </a:r>
            <a:r>
              <a:rPr sz="1600" b="1" spc="46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that</a:t>
            </a:r>
            <a:r>
              <a:rPr sz="1600" b="1" spc="46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will</a:t>
            </a:r>
            <a:r>
              <a:rPr sz="1600" b="1" spc="46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validate</a:t>
            </a:r>
            <a:r>
              <a:rPr sz="1600" b="1" spc="46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the</a:t>
            </a:r>
            <a:r>
              <a:rPr sz="1600" b="1" spc="46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controls</a:t>
            </a:r>
            <a:r>
              <a:rPr sz="1600" b="1" spc="39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in</a:t>
            </a:r>
            <a:r>
              <a:rPr sz="1600" b="1" spc="39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the</a:t>
            </a:r>
            <a:r>
              <a:rPr sz="1600" b="1" spc="39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forms</a:t>
            </a:r>
            <a:r>
              <a:rPr sz="1600" b="1" spc="39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you</a:t>
            </a:r>
            <a:r>
              <a:rPr sz="1600" b="1" spc="395" dirty="0">
                <a:latin typeface="Calibri"/>
                <a:cs typeface="Calibri"/>
              </a:rPr>
              <a:t> </a:t>
            </a:r>
            <a:r>
              <a:rPr sz="1600" b="1" spc="-20" dirty="0">
                <a:latin typeface="Calibri"/>
                <a:cs typeface="Calibri"/>
              </a:rPr>
              <a:t>have </a:t>
            </a:r>
            <a:r>
              <a:rPr sz="1600" b="1" dirty="0">
                <a:latin typeface="Calibri"/>
                <a:cs typeface="Calibri"/>
              </a:rPr>
              <a:t>created</a:t>
            </a:r>
            <a:r>
              <a:rPr sz="1600" b="1" spc="120" dirty="0">
                <a:latin typeface="Calibri"/>
                <a:cs typeface="Calibri"/>
              </a:rPr>
              <a:t>  </a:t>
            </a:r>
            <a:r>
              <a:rPr sz="1600" b="1" dirty="0">
                <a:latin typeface="Calibri"/>
                <a:cs typeface="Calibri"/>
              </a:rPr>
              <a:t>for</a:t>
            </a:r>
            <a:r>
              <a:rPr sz="1600" b="1" spc="125" dirty="0">
                <a:latin typeface="Calibri"/>
                <a:cs typeface="Calibri"/>
              </a:rPr>
              <a:t>  </a:t>
            </a:r>
            <a:r>
              <a:rPr sz="1600" b="1" dirty="0">
                <a:latin typeface="Calibri"/>
                <a:cs typeface="Calibri"/>
              </a:rPr>
              <a:t>the</a:t>
            </a:r>
            <a:r>
              <a:rPr sz="1600" b="1" spc="125" dirty="0">
                <a:latin typeface="Calibri"/>
                <a:cs typeface="Calibri"/>
              </a:rPr>
              <a:t>  </a:t>
            </a:r>
            <a:r>
              <a:rPr sz="1600" b="1" dirty="0">
                <a:latin typeface="Calibri"/>
                <a:cs typeface="Calibri"/>
              </a:rPr>
              <a:t>application.</a:t>
            </a:r>
            <a:r>
              <a:rPr sz="1600" b="1" spc="125" dirty="0">
                <a:latin typeface="Calibri"/>
                <a:cs typeface="Calibri"/>
              </a:rPr>
              <a:t>  </a:t>
            </a:r>
            <a:r>
              <a:rPr sz="1600" b="1" dirty="0">
                <a:latin typeface="Calibri"/>
                <a:cs typeface="Calibri"/>
              </a:rPr>
              <a:t>State</a:t>
            </a:r>
            <a:r>
              <a:rPr sz="1600" b="1" spc="125" dirty="0">
                <a:latin typeface="Calibri"/>
                <a:cs typeface="Calibri"/>
              </a:rPr>
              <a:t>  </a:t>
            </a:r>
            <a:r>
              <a:rPr sz="1600" b="1" dirty="0">
                <a:latin typeface="Calibri"/>
                <a:cs typeface="Calibri"/>
              </a:rPr>
              <a:t>the</a:t>
            </a:r>
            <a:r>
              <a:rPr sz="1600" b="1" spc="90" dirty="0">
                <a:latin typeface="Calibri"/>
                <a:cs typeface="Calibri"/>
              </a:rPr>
              <a:t>  </a:t>
            </a:r>
            <a:r>
              <a:rPr sz="1600" b="1" dirty="0">
                <a:latin typeface="Calibri"/>
                <a:cs typeface="Calibri"/>
              </a:rPr>
              <a:t>assumptions</a:t>
            </a:r>
            <a:r>
              <a:rPr sz="1600" b="1" spc="85" dirty="0">
                <a:latin typeface="Calibri"/>
                <a:cs typeface="Calibri"/>
              </a:rPr>
              <a:t>  </a:t>
            </a:r>
            <a:r>
              <a:rPr sz="1600" b="1" dirty="0">
                <a:latin typeface="Calibri"/>
                <a:cs typeface="Calibri"/>
              </a:rPr>
              <a:t>you</a:t>
            </a:r>
            <a:r>
              <a:rPr sz="1600" b="1" spc="90" dirty="0">
                <a:latin typeface="Calibri"/>
                <a:cs typeface="Calibri"/>
              </a:rPr>
              <a:t>  </a:t>
            </a:r>
            <a:r>
              <a:rPr sz="1600" b="1" spc="-20" dirty="0">
                <a:latin typeface="Calibri"/>
                <a:cs typeface="Calibri"/>
              </a:rPr>
              <a:t>make </a:t>
            </a:r>
            <a:r>
              <a:rPr sz="1600" b="1" dirty="0">
                <a:latin typeface="Calibri"/>
                <a:cs typeface="Calibri"/>
              </a:rPr>
              <a:t>(business</a:t>
            </a:r>
            <a:r>
              <a:rPr sz="1600" b="1" spc="-5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logic</a:t>
            </a:r>
            <a:r>
              <a:rPr sz="1600" b="1" spc="-5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you</a:t>
            </a:r>
            <a:r>
              <a:rPr sz="1600" b="1" spc="-5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are</a:t>
            </a:r>
            <a:r>
              <a:rPr sz="1600" b="1" spc="-5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taking</a:t>
            </a:r>
            <a:r>
              <a:rPr sz="1600" b="1" spc="-5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into</a:t>
            </a:r>
            <a:r>
              <a:rPr sz="1600" b="1" spc="-55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consideration).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939"/>
              </a:spcBef>
              <a:buFont typeface="Calibri"/>
              <a:buAutoNum type="arabicPeriod" startAt="8"/>
            </a:pP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600" b="1" spc="-20" dirty="0">
                <a:latin typeface="Calibri"/>
                <a:cs typeface="Calibri"/>
              </a:rPr>
              <a:t>Aim:</a:t>
            </a:r>
            <a:endParaRPr sz="1600">
              <a:latin typeface="Calibri"/>
              <a:cs typeface="Calibri"/>
            </a:endParaRPr>
          </a:p>
          <a:p>
            <a:pPr marL="12700" marR="5080" indent="708660" algn="just">
              <a:lnSpc>
                <a:spcPct val="114599"/>
              </a:lnSpc>
              <a:spcBef>
                <a:spcPts val="1180"/>
              </a:spcBef>
            </a:pPr>
            <a:r>
              <a:rPr sz="1200" dirty="0">
                <a:latin typeface="Calibri"/>
                <a:cs typeface="Calibri"/>
              </a:rPr>
              <a:t>To</a:t>
            </a:r>
            <a:r>
              <a:rPr sz="1200" spc="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develop</a:t>
            </a:r>
            <a:r>
              <a:rPr sz="1200" spc="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</a:t>
            </a:r>
            <a:r>
              <a:rPr sz="1200" spc="3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web-</a:t>
            </a:r>
            <a:r>
              <a:rPr sz="1200" dirty="0">
                <a:latin typeface="Calibri"/>
                <a:cs typeface="Calibri"/>
              </a:rPr>
              <a:t>based</a:t>
            </a:r>
            <a:r>
              <a:rPr sz="1200" spc="3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Library</a:t>
            </a:r>
            <a:r>
              <a:rPr sz="1200" b="1" spc="3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Management</a:t>
            </a:r>
            <a:r>
              <a:rPr sz="1200" b="1" spc="3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System</a:t>
            </a:r>
            <a:r>
              <a:rPr sz="1200" b="1" spc="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that</a:t>
            </a:r>
            <a:r>
              <a:rPr sz="1200" spc="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validates</a:t>
            </a:r>
            <a:r>
              <a:rPr sz="1200" spc="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user</a:t>
            </a:r>
            <a:r>
              <a:rPr sz="1200" spc="3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inputs </a:t>
            </a:r>
            <a:r>
              <a:rPr sz="1200" dirty="0">
                <a:latin typeface="Calibri"/>
                <a:cs typeface="Calibri"/>
              </a:rPr>
              <a:t>using</a:t>
            </a:r>
            <a:r>
              <a:rPr sz="1200" spc="190" dirty="0">
                <a:latin typeface="Calibri"/>
                <a:cs typeface="Calibri"/>
              </a:rPr>
              <a:t>  </a:t>
            </a:r>
            <a:r>
              <a:rPr sz="1200" dirty="0">
                <a:latin typeface="Calibri"/>
                <a:cs typeface="Calibri"/>
              </a:rPr>
              <a:t>JavaScript</a:t>
            </a:r>
            <a:r>
              <a:rPr sz="1200" spc="190" dirty="0">
                <a:latin typeface="Calibri"/>
                <a:cs typeface="Calibri"/>
              </a:rPr>
              <a:t> 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155" dirty="0">
                <a:latin typeface="Calibri"/>
                <a:cs typeface="Calibri"/>
              </a:rPr>
              <a:t>  </a:t>
            </a:r>
            <a:r>
              <a:rPr sz="1200" dirty="0">
                <a:latin typeface="Calibri"/>
                <a:cs typeface="Calibri"/>
              </a:rPr>
              <a:t>connects</a:t>
            </a:r>
            <a:r>
              <a:rPr sz="1200" spc="155" dirty="0">
                <a:latin typeface="Calibri"/>
                <a:cs typeface="Calibri"/>
              </a:rPr>
              <a:t> 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155" dirty="0">
                <a:latin typeface="Calibri"/>
                <a:cs typeface="Calibri"/>
              </a:rPr>
              <a:t>  </a:t>
            </a:r>
            <a:r>
              <a:rPr sz="1200" dirty="0">
                <a:latin typeface="Calibri"/>
                <a:cs typeface="Calibri"/>
              </a:rPr>
              <a:t>a</a:t>
            </a:r>
            <a:r>
              <a:rPr sz="1200" spc="155" dirty="0">
                <a:latin typeface="Calibri"/>
                <a:cs typeface="Calibri"/>
              </a:rPr>
              <a:t>  </a:t>
            </a:r>
            <a:r>
              <a:rPr sz="1200" dirty="0">
                <a:latin typeface="Calibri"/>
                <a:cs typeface="Calibri"/>
              </a:rPr>
              <a:t>database</a:t>
            </a:r>
            <a:r>
              <a:rPr sz="1200" spc="155" dirty="0">
                <a:latin typeface="Calibri"/>
                <a:cs typeface="Calibri"/>
              </a:rPr>
              <a:t>  </a:t>
            </a:r>
            <a:r>
              <a:rPr sz="1200" dirty="0">
                <a:latin typeface="Calibri"/>
                <a:cs typeface="Calibri"/>
              </a:rPr>
              <a:t>using</a:t>
            </a:r>
            <a:r>
              <a:rPr sz="1200" spc="155" dirty="0">
                <a:latin typeface="Calibri"/>
                <a:cs typeface="Calibri"/>
              </a:rPr>
              <a:t>  </a:t>
            </a:r>
            <a:r>
              <a:rPr sz="1200" b="1" dirty="0">
                <a:latin typeface="Calibri"/>
                <a:cs typeface="Calibri"/>
              </a:rPr>
              <a:t>Servlets</a:t>
            </a:r>
            <a:r>
              <a:rPr sz="1200" b="1" spc="155" dirty="0">
                <a:latin typeface="Calibri"/>
                <a:cs typeface="Calibri"/>
              </a:rPr>
              <a:t>  </a:t>
            </a:r>
            <a:r>
              <a:rPr sz="1200" b="1" dirty="0">
                <a:latin typeface="Calibri"/>
                <a:cs typeface="Calibri"/>
              </a:rPr>
              <a:t>and</a:t>
            </a:r>
            <a:r>
              <a:rPr sz="1200" b="1" spc="155" dirty="0">
                <a:latin typeface="Calibri"/>
                <a:cs typeface="Calibri"/>
              </a:rPr>
              <a:t>  </a:t>
            </a:r>
            <a:r>
              <a:rPr sz="1200" b="1" dirty="0">
                <a:latin typeface="Calibri"/>
                <a:cs typeface="Calibri"/>
              </a:rPr>
              <a:t>JSP</a:t>
            </a:r>
            <a:r>
              <a:rPr sz="1200" dirty="0">
                <a:latin typeface="Calibri"/>
                <a:cs typeface="Calibri"/>
              </a:rPr>
              <a:t>,</a:t>
            </a:r>
            <a:r>
              <a:rPr sz="1200" spc="155" dirty="0">
                <a:latin typeface="Calibri"/>
                <a:cs typeface="Calibri"/>
              </a:rPr>
              <a:t>  </a:t>
            </a:r>
            <a:r>
              <a:rPr sz="1200" dirty="0">
                <a:latin typeface="Calibri"/>
                <a:cs typeface="Calibri"/>
              </a:rPr>
              <a:t>while</a:t>
            </a:r>
            <a:r>
              <a:rPr sz="1200" spc="155" dirty="0">
                <a:latin typeface="Calibri"/>
                <a:cs typeface="Calibri"/>
              </a:rPr>
              <a:t>  </a:t>
            </a:r>
            <a:r>
              <a:rPr sz="1200" spc="-20" dirty="0">
                <a:latin typeface="Calibri"/>
                <a:cs typeface="Calibri"/>
              </a:rPr>
              <a:t>also </a:t>
            </a:r>
            <a:r>
              <a:rPr sz="1200" spc="-10" dirty="0">
                <a:latin typeface="Calibri"/>
                <a:cs typeface="Calibri"/>
              </a:rPr>
              <a:t>demonstrating </a:t>
            </a:r>
            <a:r>
              <a:rPr sz="1200" dirty="0">
                <a:latin typeface="Calibri"/>
                <a:cs typeface="Calibri"/>
              </a:rPr>
              <a:t>a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simple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Weather</a:t>
            </a:r>
            <a:r>
              <a:rPr sz="1200" b="1" spc="-10" dirty="0">
                <a:latin typeface="Calibri"/>
                <a:cs typeface="Calibri"/>
              </a:rPr>
              <a:t> Information Webpage </a:t>
            </a:r>
            <a:r>
              <a:rPr sz="1200" b="1" spc="-25" dirty="0">
                <a:latin typeface="Calibri"/>
                <a:cs typeface="Calibri"/>
              </a:rPr>
              <a:t>UI</a:t>
            </a:r>
            <a:r>
              <a:rPr sz="1200" spc="-25" dirty="0">
                <a:latin typeface="Calibri"/>
                <a:cs typeface="Calibri"/>
              </a:rPr>
              <a:t>.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75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600" b="1" spc="-10" dirty="0">
                <a:latin typeface="Calibri"/>
                <a:cs typeface="Calibri"/>
              </a:rPr>
              <a:t>Procedure:</a:t>
            </a:r>
            <a:endParaRPr sz="1600">
              <a:latin typeface="Calibri"/>
              <a:cs typeface="Calibri"/>
            </a:endParaRPr>
          </a:p>
          <a:p>
            <a:pPr marL="469900" lvl="1" indent="-228600">
              <a:lnSpc>
                <a:spcPct val="100000"/>
              </a:lnSpc>
              <a:spcBef>
                <a:spcPts val="1555"/>
              </a:spcBef>
              <a:buAutoNum type="arabicPeriod"/>
              <a:tabLst>
                <a:tab pos="469900" algn="l"/>
              </a:tabLst>
            </a:pPr>
            <a:r>
              <a:rPr sz="1200" dirty="0">
                <a:latin typeface="Times New Roman"/>
                <a:cs typeface="Times New Roman"/>
              </a:rPr>
              <a:t>Create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HTML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webpage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Library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Management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System.</a:t>
            </a:r>
            <a:endParaRPr sz="1200">
              <a:latin typeface="Times New Roman"/>
              <a:cs typeface="Times New Roman"/>
            </a:endParaRPr>
          </a:p>
          <a:p>
            <a:pPr marL="469900" lvl="1" indent="-228600">
              <a:lnSpc>
                <a:spcPct val="100000"/>
              </a:lnSpc>
              <a:spcBef>
                <a:spcPts val="630"/>
              </a:spcBef>
              <a:buAutoNum type="arabicPeriod"/>
              <a:tabLst>
                <a:tab pos="469900" algn="l"/>
              </a:tabLst>
            </a:pPr>
            <a:r>
              <a:rPr sz="1200" dirty="0">
                <a:latin typeface="Times New Roman"/>
                <a:cs typeface="Times New Roman"/>
              </a:rPr>
              <a:t>Design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form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books/users.</a:t>
            </a:r>
            <a:endParaRPr sz="1200">
              <a:latin typeface="Times New Roman"/>
              <a:cs typeface="Times New Roman"/>
            </a:endParaRPr>
          </a:p>
          <a:p>
            <a:pPr marL="469900" lvl="1" indent="-228600">
              <a:lnSpc>
                <a:spcPct val="100000"/>
              </a:lnSpc>
              <a:spcBef>
                <a:spcPts val="630"/>
              </a:spcBef>
              <a:buAutoNum type="arabicPeriod"/>
              <a:tabLst>
                <a:tab pos="469900" algn="l"/>
              </a:tabLst>
            </a:pPr>
            <a:r>
              <a:rPr sz="1200" dirty="0">
                <a:latin typeface="Times New Roman"/>
                <a:cs typeface="Times New Roman"/>
              </a:rPr>
              <a:t>Apply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JavaScript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validation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all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fields.</a:t>
            </a:r>
            <a:endParaRPr sz="1200">
              <a:latin typeface="Times New Roman"/>
              <a:cs typeface="Times New Roman"/>
            </a:endParaRPr>
          </a:p>
          <a:p>
            <a:pPr marL="469900" lvl="1" indent="-228600">
              <a:lnSpc>
                <a:spcPct val="100000"/>
              </a:lnSpc>
              <a:spcBef>
                <a:spcPts val="630"/>
              </a:spcBef>
              <a:buAutoNum type="arabicPeriod"/>
              <a:tabLst>
                <a:tab pos="469900" algn="l"/>
              </a:tabLst>
            </a:pPr>
            <a:r>
              <a:rPr sz="1200" dirty="0">
                <a:latin typeface="Times New Roman"/>
                <a:cs typeface="Times New Roman"/>
              </a:rPr>
              <a:t>Create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JSP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page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display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data.</a:t>
            </a:r>
            <a:endParaRPr sz="1200">
              <a:latin typeface="Times New Roman"/>
              <a:cs typeface="Times New Roman"/>
            </a:endParaRPr>
          </a:p>
          <a:p>
            <a:pPr marL="469900" lvl="1" indent="-228600">
              <a:lnSpc>
                <a:spcPct val="100000"/>
              </a:lnSpc>
              <a:spcBef>
                <a:spcPts val="625"/>
              </a:spcBef>
              <a:buAutoNum type="arabicPeriod"/>
              <a:tabLst>
                <a:tab pos="469900" algn="l"/>
              </a:tabLst>
            </a:pPr>
            <a:r>
              <a:rPr sz="1200" dirty="0">
                <a:latin typeface="Times New Roman"/>
                <a:cs typeface="Times New Roman"/>
              </a:rPr>
              <a:t>Develop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Servlet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handle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form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submission.</a:t>
            </a:r>
            <a:endParaRPr sz="1200">
              <a:latin typeface="Times New Roman"/>
              <a:cs typeface="Times New Roman"/>
            </a:endParaRPr>
          </a:p>
          <a:p>
            <a:pPr marL="469900" lvl="1" indent="-228600">
              <a:lnSpc>
                <a:spcPct val="100000"/>
              </a:lnSpc>
              <a:spcBef>
                <a:spcPts val="630"/>
              </a:spcBef>
              <a:buAutoNum type="arabicPeriod"/>
              <a:tabLst>
                <a:tab pos="469900" algn="l"/>
              </a:tabLst>
            </a:pPr>
            <a:r>
              <a:rPr sz="1200" dirty="0">
                <a:latin typeface="Times New Roman"/>
                <a:cs typeface="Times New Roman"/>
              </a:rPr>
              <a:t>Connect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application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MySQL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database.</a:t>
            </a:r>
            <a:endParaRPr sz="1200">
              <a:latin typeface="Times New Roman"/>
              <a:cs typeface="Times New Roman"/>
            </a:endParaRPr>
          </a:p>
          <a:p>
            <a:pPr marL="469900" lvl="1" indent="-228600">
              <a:lnSpc>
                <a:spcPct val="100000"/>
              </a:lnSpc>
              <a:spcBef>
                <a:spcPts val="630"/>
              </a:spcBef>
              <a:buAutoNum type="arabicPeriod"/>
              <a:tabLst>
                <a:tab pos="469900" algn="l"/>
              </a:tabLst>
            </a:pPr>
            <a:r>
              <a:rPr sz="1200" dirty="0">
                <a:latin typeface="Times New Roman"/>
                <a:cs typeface="Times New Roman"/>
              </a:rPr>
              <a:t>Insert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validated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into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database.</a:t>
            </a:r>
            <a:endParaRPr sz="1200">
              <a:latin typeface="Times New Roman"/>
              <a:cs typeface="Times New Roman"/>
            </a:endParaRPr>
          </a:p>
          <a:p>
            <a:pPr marL="469900" lvl="1" indent="-228600">
              <a:lnSpc>
                <a:spcPct val="100000"/>
              </a:lnSpc>
              <a:spcBef>
                <a:spcPts val="630"/>
              </a:spcBef>
              <a:buAutoNum type="arabicPeriod"/>
              <a:tabLst>
                <a:tab pos="469900" algn="l"/>
              </a:tabLst>
            </a:pPr>
            <a:r>
              <a:rPr sz="1200" dirty="0">
                <a:latin typeface="Times New Roman"/>
                <a:cs typeface="Times New Roman"/>
              </a:rPr>
              <a:t>Run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project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server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(e.g.,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Apache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Tomcat).</a:t>
            </a:r>
            <a:endParaRPr sz="1200">
              <a:latin typeface="Times New Roman"/>
              <a:cs typeface="Times New Roman"/>
            </a:endParaRPr>
          </a:p>
          <a:p>
            <a:pPr marL="469900" lvl="1" indent="-228600">
              <a:lnSpc>
                <a:spcPct val="100000"/>
              </a:lnSpc>
              <a:spcBef>
                <a:spcPts val="630"/>
              </a:spcBef>
              <a:buAutoNum type="arabicPeriod"/>
              <a:tabLst>
                <a:tab pos="469900" algn="l"/>
              </a:tabLst>
            </a:pPr>
            <a:r>
              <a:rPr sz="1200" dirty="0">
                <a:latin typeface="Times New Roman"/>
                <a:cs typeface="Times New Roman"/>
              </a:rPr>
              <a:t>Display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success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error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messages.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85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b="1" spc="-10" dirty="0">
                <a:latin typeface="Calibri"/>
                <a:cs typeface="Calibri"/>
              </a:rPr>
              <a:t>Code: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85"/>
              </a:spcBef>
            </a:pPr>
            <a:r>
              <a:rPr sz="1600" b="1" spc="-10" dirty="0">
                <a:latin typeface="Calibri"/>
                <a:cs typeface="Calibri"/>
              </a:rPr>
              <a:t>1.Html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</a:pPr>
            <a:r>
              <a:rPr sz="1200" dirty="0">
                <a:latin typeface="Calibri"/>
                <a:cs typeface="Calibri"/>
              </a:rPr>
              <a:t>&lt;!DOCTYPE</a:t>
            </a:r>
            <a:r>
              <a:rPr sz="1200" spc="-5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html&gt;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1200" spc="-10" dirty="0">
                <a:latin typeface="Calibri"/>
                <a:cs typeface="Calibri"/>
              </a:rPr>
              <a:t>&lt;html&gt;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45"/>
              </a:spcBef>
            </a:pPr>
            <a:r>
              <a:rPr sz="1200" spc="-10" dirty="0">
                <a:latin typeface="Calibri"/>
                <a:cs typeface="Calibri"/>
              </a:rPr>
              <a:t>&lt;head&gt;</a:t>
            </a:r>
            <a:endParaRPr sz="1200">
              <a:latin typeface="Calibri"/>
              <a:cs typeface="Calibri"/>
            </a:endParaRPr>
          </a:p>
          <a:p>
            <a:pPr marL="150495">
              <a:lnSpc>
                <a:spcPct val="100000"/>
              </a:lnSpc>
              <a:spcBef>
                <a:spcPts val="940"/>
              </a:spcBef>
            </a:pPr>
            <a:r>
              <a:rPr sz="1200" dirty="0">
                <a:latin typeface="Calibri"/>
                <a:cs typeface="Calibri"/>
              </a:rPr>
              <a:t>&lt;title&gt;Library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Management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System&lt;/title&gt;</a:t>
            </a:r>
            <a:endParaRPr sz="1200">
              <a:latin typeface="Calibri"/>
              <a:cs typeface="Calibri"/>
            </a:endParaRPr>
          </a:p>
          <a:p>
            <a:pPr marL="150495">
              <a:lnSpc>
                <a:spcPct val="100000"/>
              </a:lnSpc>
              <a:spcBef>
                <a:spcPts val="940"/>
              </a:spcBef>
            </a:pPr>
            <a:r>
              <a:rPr sz="1200" spc="-10" dirty="0">
                <a:latin typeface="Calibri"/>
                <a:cs typeface="Calibri"/>
              </a:rPr>
              <a:t>&lt;script&gt;</a:t>
            </a:r>
            <a:endParaRPr sz="1200">
              <a:latin typeface="Calibri"/>
              <a:cs typeface="Calibri"/>
            </a:endParaRPr>
          </a:p>
          <a:p>
            <a:pPr marL="288290">
              <a:lnSpc>
                <a:spcPct val="100000"/>
              </a:lnSpc>
              <a:spcBef>
                <a:spcPts val="940"/>
              </a:spcBef>
            </a:pPr>
            <a:r>
              <a:rPr sz="1200" dirty="0">
                <a:latin typeface="Calibri"/>
                <a:cs typeface="Calibri"/>
              </a:rPr>
              <a:t>function</a:t>
            </a:r>
            <a:r>
              <a:rPr sz="1200" spc="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validateForm()</a:t>
            </a:r>
            <a:r>
              <a:rPr sz="1200" spc="30" dirty="0">
                <a:latin typeface="Calibri"/>
                <a:cs typeface="Calibri"/>
              </a:rPr>
              <a:t> </a:t>
            </a:r>
            <a:r>
              <a:rPr sz="1200" spc="-50" dirty="0">
                <a:latin typeface="Calibri"/>
                <a:cs typeface="Calibri"/>
              </a:rPr>
              <a:t>{</a:t>
            </a:r>
            <a:endParaRPr sz="1200">
              <a:latin typeface="Calibri"/>
              <a:cs typeface="Calibri"/>
            </a:endParaRPr>
          </a:p>
          <a:p>
            <a:pPr marL="426084">
              <a:lnSpc>
                <a:spcPct val="100000"/>
              </a:lnSpc>
              <a:spcBef>
                <a:spcPts val="940"/>
              </a:spcBef>
            </a:pPr>
            <a:r>
              <a:rPr sz="1200" dirty="0">
                <a:latin typeface="Calibri"/>
                <a:cs typeface="Calibri"/>
              </a:rPr>
              <a:t>let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name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=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document.forms["libForm"]["name"].value;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7329" y="897235"/>
            <a:ext cx="3851275" cy="8674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0495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let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email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=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document.forms["libForm"]["email"].value;</a:t>
            </a:r>
            <a:endParaRPr sz="1200">
              <a:latin typeface="Calibri"/>
              <a:cs typeface="Calibri"/>
            </a:endParaRPr>
          </a:p>
          <a:p>
            <a:pPr marL="150495" marR="224790">
              <a:lnSpc>
                <a:spcPct val="165300"/>
              </a:lnSpc>
            </a:pPr>
            <a:r>
              <a:rPr sz="1200" dirty="0">
                <a:latin typeface="Calibri"/>
                <a:cs typeface="Calibri"/>
              </a:rPr>
              <a:t>let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phone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=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document.forms["libForm"]["phone"].value; </a:t>
            </a:r>
            <a:r>
              <a:rPr sz="1200" dirty="0">
                <a:latin typeface="Calibri"/>
                <a:cs typeface="Calibri"/>
              </a:rPr>
              <a:t>let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book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=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document.forms["libForm"]["book"].value;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90"/>
              </a:spcBef>
            </a:pPr>
            <a:endParaRPr sz="1200">
              <a:latin typeface="Calibri"/>
              <a:cs typeface="Calibri"/>
            </a:endParaRPr>
          </a:p>
          <a:p>
            <a:pPr marL="150495">
              <a:lnSpc>
                <a:spcPct val="100000"/>
              </a:lnSpc>
            </a:pPr>
            <a:r>
              <a:rPr sz="1200" dirty="0">
                <a:latin typeface="Calibri"/>
                <a:cs typeface="Calibri"/>
              </a:rPr>
              <a:t>let </a:t>
            </a:r>
            <a:r>
              <a:rPr sz="1200" spc="-10" dirty="0">
                <a:latin typeface="Calibri"/>
                <a:cs typeface="Calibri"/>
              </a:rPr>
              <a:t>namePattern</a:t>
            </a:r>
            <a:r>
              <a:rPr sz="1200" dirty="0">
                <a:latin typeface="Calibri"/>
                <a:cs typeface="Calibri"/>
              </a:rPr>
              <a:t> = </a:t>
            </a:r>
            <a:r>
              <a:rPr sz="1200" spc="-10" dirty="0">
                <a:latin typeface="Calibri"/>
                <a:cs typeface="Calibri"/>
              </a:rPr>
              <a:t>/^[A-Za-</a:t>
            </a:r>
            <a:r>
              <a:rPr sz="1200" dirty="0">
                <a:latin typeface="Calibri"/>
                <a:cs typeface="Calibri"/>
              </a:rPr>
              <a:t>z </a:t>
            </a:r>
            <a:r>
              <a:rPr sz="1200" spc="-10" dirty="0">
                <a:latin typeface="Calibri"/>
                <a:cs typeface="Calibri"/>
              </a:rPr>
              <a:t>]+$/;</a:t>
            </a:r>
            <a:endParaRPr sz="1200">
              <a:latin typeface="Calibri"/>
              <a:cs typeface="Calibri"/>
            </a:endParaRPr>
          </a:p>
          <a:p>
            <a:pPr marL="150495">
              <a:lnSpc>
                <a:spcPct val="100000"/>
              </a:lnSpc>
              <a:spcBef>
                <a:spcPts val="940"/>
              </a:spcBef>
            </a:pPr>
            <a:r>
              <a:rPr sz="1200" dirty="0">
                <a:latin typeface="Calibri"/>
                <a:cs typeface="Calibri"/>
              </a:rPr>
              <a:t>let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emailPattern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=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/^[^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]+@[^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]+\.[a-</a:t>
            </a:r>
            <a:r>
              <a:rPr sz="1200" spc="-10" dirty="0">
                <a:latin typeface="Calibri"/>
                <a:cs typeface="Calibri"/>
              </a:rPr>
              <a:t>z]{2,3}$/;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15"/>
              </a:spcBef>
            </a:pPr>
            <a:endParaRPr sz="1200">
              <a:latin typeface="Calibri"/>
              <a:cs typeface="Calibri"/>
            </a:endParaRPr>
          </a:p>
          <a:p>
            <a:pPr marL="288290" marR="5080" indent="-138430">
              <a:lnSpc>
                <a:spcPct val="165300"/>
              </a:lnSpc>
              <a:spcBef>
                <a:spcPts val="5"/>
              </a:spcBef>
            </a:pPr>
            <a:r>
              <a:rPr sz="1200" dirty="0">
                <a:latin typeface="Calibri"/>
                <a:cs typeface="Calibri"/>
              </a:rPr>
              <a:t>if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(name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==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"" ||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email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==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"" ||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phone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== ""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||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book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== "")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spc="-50" dirty="0">
                <a:latin typeface="Calibri"/>
                <a:cs typeface="Calibri"/>
              </a:rPr>
              <a:t>{ </a:t>
            </a:r>
            <a:r>
              <a:rPr sz="1200" dirty="0">
                <a:latin typeface="Calibri"/>
                <a:cs typeface="Calibri"/>
              </a:rPr>
              <a:t>alert("All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fields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must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be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filled</a:t>
            </a:r>
            <a:r>
              <a:rPr sz="1200" spc="-10" dirty="0">
                <a:latin typeface="Calibri"/>
                <a:cs typeface="Calibri"/>
              </a:rPr>
              <a:t> out");</a:t>
            </a:r>
            <a:endParaRPr sz="1200">
              <a:latin typeface="Calibri"/>
              <a:cs typeface="Calibri"/>
            </a:endParaRPr>
          </a:p>
          <a:p>
            <a:pPr marL="288290">
              <a:lnSpc>
                <a:spcPct val="100000"/>
              </a:lnSpc>
              <a:spcBef>
                <a:spcPts val="940"/>
              </a:spcBef>
            </a:pPr>
            <a:r>
              <a:rPr sz="1200" dirty="0">
                <a:latin typeface="Calibri"/>
                <a:cs typeface="Calibri"/>
              </a:rPr>
              <a:t>return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false;</a:t>
            </a:r>
            <a:endParaRPr sz="1200">
              <a:latin typeface="Calibri"/>
              <a:cs typeface="Calibri"/>
            </a:endParaRPr>
          </a:p>
          <a:p>
            <a:pPr marL="150495">
              <a:lnSpc>
                <a:spcPct val="100000"/>
              </a:lnSpc>
              <a:spcBef>
                <a:spcPts val="940"/>
              </a:spcBef>
            </a:pPr>
            <a:r>
              <a:rPr sz="1200" spc="-50" dirty="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90"/>
              </a:spcBef>
            </a:pPr>
            <a:endParaRPr sz="1200">
              <a:latin typeface="Calibri"/>
              <a:cs typeface="Calibri"/>
            </a:endParaRPr>
          </a:p>
          <a:p>
            <a:pPr marL="150495">
              <a:lnSpc>
                <a:spcPct val="100000"/>
              </a:lnSpc>
            </a:pPr>
            <a:r>
              <a:rPr sz="1200" dirty="0">
                <a:latin typeface="Calibri"/>
                <a:cs typeface="Calibri"/>
              </a:rPr>
              <a:t>if</a:t>
            </a:r>
            <a:r>
              <a:rPr sz="1200" spc="4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(!name.match(namePattern))</a:t>
            </a:r>
            <a:r>
              <a:rPr sz="1200" spc="50" dirty="0">
                <a:latin typeface="Calibri"/>
                <a:cs typeface="Calibri"/>
              </a:rPr>
              <a:t> </a:t>
            </a:r>
            <a:r>
              <a:rPr sz="1200" spc="-50" dirty="0">
                <a:latin typeface="Calibri"/>
                <a:cs typeface="Calibri"/>
              </a:rPr>
              <a:t>{</a:t>
            </a:r>
            <a:endParaRPr sz="1200">
              <a:latin typeface="Calibri"/>
              <a:cs typeface="Calibri"/>
            </a:endParaRPr>
          </a:p>
          <a:p>
            <a:pPr marL="288290" marR="862965">
              <a:lnSpc>
                <a:spcPct val="165300"/>
              </a:lnSpc>
            </a:pPr>
            <a:r>
              <a:rPr sz="1200" dirty="0">
                <a:latin typeface="Calibri"/>
                <a:cs typeface="Calibri"/>
              </a:rPr>
              <a:t>alert("Name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must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contain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only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alphabets"); </a:t>
            </a:r>
            <a:r>
              <a:rPr sz="1200" dirty="0">
                <a:latin typeface="Calibri"/>
                <a:cs typeface="Calibri"/>
              </a:rPr>
              <a:t>return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false;</a:t>
            </a:r>
            <a:endParaRPr sz="1200">
              <a:latin typeface="Calibri"/>
              <a:cs typeface="Calibri"/>
            </a:endParaRPr>
          </a:p>
          <a:p>
            <a:pPr marL="150495">
              <a:lnSpc>
                <a:spcPct val="100000"/>
              </a:lnSpc>
              <a:spcBef>
                <a:spcPts val="945"/>
              </a:spcBef>
            </a:pPr>
            <a:r>
              <a:rPr sz="1200" spc="-50" dirty="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15"/>
              </a:spcBef>
            </a:pPr>
            <a:endParaRPr sz="1200">
              <a:latin typeface="Calibri"/>
              <a:cs typeface="Calibri"/>
            </a:endParaRPr>
          </a:p>
          <a:p>
            <a:pPr marL="288290" marR="1698625" indent="-138430">
              <a:lnSpc>
                <a:spcPct val="165300"/>
              </a:lnSpc>
            </a:pPr>
            <a:r>
              <a:rPr sz="1200" dirty="0">
                <a:latin typeface="Calibri"/>
                <a:cs typeface="Calibri"/>
              </a:rPr>
              <a:t>if</a:t>
            </a:r>
            <a:r>
              <a:rPr sz="1200" spc="3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(!email.match(emailPattern))</a:t>
            </a:r>
            <a:r>
              <a:rPr sz="1200" spc="30" dirty="0">
                <a:latin typeface="Calibri"/>
                <a:cs typeface="Calibri"/>
              </a:rPr>
              <a:t> </a:t>
            </a:r>
            <a:r>
              <a:rPr sz="1200" spc="-50" dirty="0">
                <a:latin typeface="Calibri"/>
                <a:cs typeface="Calibri"/>
              </a:rPr>
              <a:t>{ </a:t>
            </a:r>
            <a:r>
              <a:rPr sz="1200" dirty="0">
                <a:latin typeface="Calibri"/>
                <a:cs typeface="Calibri"/>
              </a:rPr>
              <a:t>alert("Invalid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email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format"); </a:t>
            </a:r>
            <a:r>
              <a:rPr sz="1200" dirty="0">
                <a:latin typeface="Calibri"/>
                <a:cs typeface="Calibri"/>
              </a:rPr>
              <a:t>return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false;</a:t>
            </a:r>
            <a:endParaRPr sz="1200">
              <a:latin typeface="Calibri"/>
              <a:cs typeface="Calibri"/>
            </a:endParaRPr>
          </a:p>
          <a:p>
            <a:pPr marL="150495">
              <a:lnSpc>
                <a:spcPct val="100000"/>
              </a:lnSpc>
              <a:spcBef>
                <a:spcPts val="940"/>
              </a:spcBef>
            </a:pPr>
            <a:r>
              <a:rPr sz="1200" spc="-50" dirty="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15"/>
              </a:spcBef>
            </a:pPr>
            <a:endParaRPr sz="1200">
              <a:latin typeface="Calibri"/>
              <a:cs typeface="Calibri"/>
            </a:endParaRPr>
          </a:p>
          <a:p>
            <a:pPr marL="288290" marR="1163955" indent="-138430">
              <a:lnSpc>
                <a:spcPct val="165300"/>
              </a:lnSpc>
            </a:pPr>
            <a:r>
              <a:rPr sz="1200" dirty="0">
                <a:latin typeface="Calibri"/>
                <a:cs typeface="Calibri"/>
              </a:rPr>
              <a:t>if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(phone.length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!=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10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||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isNaN(phone))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spc="-50" dirty="0">
                <a:latin typeface="Calibri"/>
                <a:cs typeface="Calibri"/>
              </a:rPr>
              <a:t>{ </a:t>
            </a:r>
            <a:r>
              <a:rPr sz="1200" dirty="0">
                <a:latin typeface="Calibri"/>
                <a:cs typeface="Calibri"/>
              </a:rPr>
              <a:t>alert("Phone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must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be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10</a:t>
            </a:r>
            <a:r>
              <a:rPr sz="1200" spc="-10" dirty="0">
                <a:latin typeface="Calibri"/>
                <a:cs typeface="Calibri"/>
              </a:rPr>
              <a:t> digits"); </a:t>
            </a:r>
            <a:r>
              <a:rPr sz="1200" dirty="0">
                <a:latin typeface="Calibri"/>
                <a:cs typeface="Calibri"/>
              </a:rPr>
              <a:t>return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false;</a:t>
            </a:r>
            <a:endParaRPr sz="1200">
              <a:latin typeface="Calibri"/>
              <a:cs typeface="Calibri"/>
            </a:endParaRPr>
          </a:p>
          <a:p>
            <a:pPr marL="150495">
              <a:lnSpc>
                <a:spcPct val="100000"/>
              </a:lnSpc>
              <a:spcBef>
                <a:spcPts val="945"/>
              </a:spcBef>
            </a:pPr>
            <a:r>
              <a:rPr sz="1200" spc="-50" dirty="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90"/>
              </a:spcBef>
            </a:pPr>
            <a:endParaRPr sz="1200">
              <a:latin typeface="Calibri"/>
              <a:cs typeface="Calibri"/>
            </a:endParaRPr>
          </a:p>
          <a:p>
            <a:pPr marL="150495">
              <a:lnSpc>
                <a:spcPct val="100000"/>
              </a:lnSpc>
            </a:pPr>
            <a:r>
              <a:rPr sz="1200" dirty="0">
                <a:latin typeface="Calibri"/>
                <a:cs typeface="Calibri"/>
              </a:rPr>
              <a:t>return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true;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1200" spc="-50" dirty="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1700" y="897235"/>
            <a:ext cx="5749290" cy="86398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0495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Calibri"/>
                <a:cs typeface="Calibri"/>
              </a:rPr>
              <a:t>&lt;/script&gt;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1200" spc="-10" dirty="0">
                <a:latin typeface="Calibri"/>
                <a:cs typeface="Calibri"/>
              </a:rPr>
              <a:t>&lt;/head&gt;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1200" spc="-10" dirty="0">
                <a:latin typeface="Calibri"/>
                <a:cs typeface="Calibri"/>
              </a:rPr>
              <a:t>&lt;body&gt;</a:t>
            </a:r>
            <a:endParaRPr sz="1200">
              <a:latin typeface="Calibri"/>
              <a:cs typeface="Calibri"/>
            </a:endParaRPr>
          </a:p>
          <a:p>
            <a:pPr marL="150495">
              <a:lnSpc>
                <a:spcPct val="100000"/>
              </a:lnSpc>
              <a:spcBef>
                <a:spcPts val="940"/>
              </a:spcBef>
            </a:pPr>
            <a:r>
              <a:rPr sz="1200" dirty="0">
                <a:latin typeface="Calibri"/>
                <a:cs typeface="Calibri"/>
              </a:rPr>
              <a:t>&lt;h2&gt;Library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Management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System&lt;/h2&gt;</a:t>
            </a:r>
            <a:endParaRPr sz="1200">
              <a:latin typeface="Calibri"/>
              <a:cs typeface="Calibri"/>
            </a:endParaRPr>
          </a:p>
          <a:p>
            <a:pPr marL="12700" marR="5080" indent="414020">
              <a:lnSpc>
                <a:spcPct val="109800"/>
              </a:lnSpc>
              <a:spcBef>
                <a:spcPts val="800"/>
              </a:spcBef>
            </a:pPr>
            <a:r>
              <a:rPr sz="1200" dirty="0">
                <a:latin typeface="Calibri"/>
                <a:cs typeface="Calibri"/>
              </a:rPr>
              <a:t>&lt;form</a:t>
            </a:r>
            <a:r>
              <a:rPr sz="1200" spc="49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name="libForm"</a:t>
            </a:r>
            <a:r>
              <a:rPr sz="1200" spc="49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action="LibraryServlet"</a:t>
            </a:r>
            <a:r>
              <a:rPr sz="1200" spc="110" dirty="0">
                <a:latin typeface="Calibri"/>
                <a:cs typeface="Calibri"/>
              </a:rPr>
              <a:t>  </a:t>
            </a:r>
            <a:r>
              <a:rPr sz="1200" dirty="0">
                <a:latin typeface="Calibri"/>
                <a:cs typeface="Calibri"/>
              </a:rPr>
              <a:t>method="post"</a:t>
            </a:r>
            <a:r>
              <a:rPr sz="1200" spc="110" dirty="0">
                <a:latin typeface="Calibri"/>
                <a:cs typeface="Calibri"/>
              </a:rPr>
              <a:t>  </a:t>
            </a:r>
            <a:r>
              <a:rPr sz="1200" spc="-10" dirty="0">
                <a:latin typeface="Calibri"/>
                <a:cs typeface="Calibri"/>
              </a:rPr>
              <a:t>onsubmit="return validateForm()"&gt;</a:t>
            </a:r>
            <a:endParaRPr sz="1200">
              <a:latin typeface="Calibri"/>
              <a:cs typeface="Calibri"/>
            </a:endParaRPr>
          </a:p>
          <a:p>
            <a:pPr marL="288290" marR="1970405">
              <a:lnSpc>
                <a:spcPct val="165300"/>
              </a:lnSpc>
            </a:pPr>
            <a:r>
              <a:rPr sz="1200" dirty="0">
                <a:latin typeface="Calibri"/>
                <a:cs typeface="Calibri"/>
              </a:rPr>
              <a:t>Name: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&lt;input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type="text"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name="name"&gt;&lt;br&gt;&lt;br&gt; </a:t>
            </a:r>
            <a:r>
              <a:rPr sz="1200" dirty="0">
                <a:latin typeface="Calibri"/>
                <a:cs typeface="Calibri"/>
              </a:rPr>
              <a:t>Email: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&lt;input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type="text"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name="email"&gt;&lt;br&gt;&lt;br&gt; </a:t>
            </a:r>
            <a:r>
              <a:rPr sz="1200" dirty="0">
                <a:latin typeface="Calibri"/>
                <a:cs typeface="Calibri"/>
              </a:rPr>
              <a:t>Phone: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&lt;input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type="text"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name="phone"&gt;&lt;br&gt;&lt;br&gt; </a:t>
            </a:r>
            <a:r>
              <a:rPr sz="1200" dirty="0">
                <a:latin typeface="Calibri"/>
                <a:cs typeface="Calibri"/>
              </a:rPr>
              <a:t>Book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Name: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&lt;input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type="text"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name="book"&gt;&lt;br&gt;&lt;br&gt;</a:t>
            </a:r>
            <a:endParaRPr sz="1200">
              <a:latin typeface="Calibri"/>
              <a:cs typeface="Calibri"/>
            </a:endParaRPr>
          </a:p>
          <a:p>
            <a:pPr marL="288290">
              <a:lnSpc>
                <a:spcPct val="100000"/>
              </a:lnSpc>
              <a:spcBef>
                <a:spcPts val="940"/>
              </a:spcBef>
            </a:pPr>
            <a:r>
              <a:rPr sz="1200" dirty="0">
                <a:latin typeface="Calibri"/>
                <a:cs typeface="Calibri"/>
              </a:rPr>
              <a:t>&lt;input type="submit" </a:t>
            </a:r>
            <a:r>
              <a:rPr sz="1200" spc="-10" dirty="0">
                <a:latin typeface="Calibri"/>
                <a:cs typeface="Calibri"/>
              </a:rPr>
              <a:t>value="Submit"&gt;</a:t>
            </a:r>
            <a:endParaRPr sz="1200">
              <a:latin typeface="Calibri"/>
              <a:cs typeface="Calibri"/>
            </a:endParaRPr>
          </a:p>
          <a:p>
            <a:pPr marL="150495">
              <a:lnSpc>
                <a:spcPct val="100000"/>
              </a:lnSpc>
              <a:spcBef>
                <a:spcPts val="945"/>
              </a:spcBef>
            </a:pPr>
            <a:r>
              <a:rPr sz="1200" spc="-10" dirty="0">
                <a:latin typeface="Calibri"/>
                <a:cs typeface="Calibri"/>
              </a:rPr>
              <a:t>&lt;/form&gt;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1200" spc="-10" dirty="0">
                <a:latin typeface="Calibri"/>
                <a:cs typeface="Calibri"/>
              </a:rPr>
              <a:t>&lt;/body&gt;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1200" spc="-10" dirty="0">
                <a:latin typeface="Calibri"/>
                <a:cs typeface="Calibri"/>
              </a:rPr>
              <a:t>&lt;/html&gt;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80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600" b="1" dirty="0">
                <a:latin typeface="Calibri"/>
                <a:cs typeface="Calibri"/>
              </a:rPr>
              <a:t>2.Servlet</a:t>
            </a:r>
            <a:r>
              <a:rPr sz="1600" b="1" spc="-75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(Java):</a:t>
            </a:r>
            <a:endParaRPr sz="1600">
              <a:latin typeface="Calibri"/>
              <a:cs typeface="Calibri"/>
            </a:endParaRPr>
          </a:p>
          <a:p>
            <a:pPr marL="12700" marR="4347845">
              <a:lnSpc>
                <a:spcPct val="165300"/>
              </a:lnSpc>
              <a:spcBef>
                <a:spcPts val="60"/>
              </a:spcBef>
            </a:pPr>
            <a:r>
              <a:rPr sz="1200" dirty="0">
                <a:latin typeface="Calibri"/>
                <a:cs typeface="Calibri"/>
              </a:rPr>
              <a:t>import </a:t>
            </a:r>
            <a:r>
              <a:rPr sz="1200" spc="-10" dirty="0">
                <a:latin typeface="Calibri"/>
                <a:cs typeface="Calibri"/>
              </a:rPr>
              <a:t>java.io.*; </a:t>
            </a:r>
            <a:r>
              <a:rPr sz="1200" dirty="0">
                <a:latin typeface="Calibri"/>
                <a:cs typeface="Calibri"/>
              </a:rPr>
              <a:t>import</a:t>
            </a:r>
            <a:r>
              <a:rPr sz="1200" spc="-10" dirty="0">
                <a:latin typeface="Calibri"/>
                <a:cs typeface="Calibri"/>
              </a:rPr>
              <a:t> javax.servlet.*;</a:t>
            </a:r>
            <a:endParaRPr sz="1200">
              <a:latin typeface="Calibri"/>
              <a:cs typeface="Calibri"/>
            </a:endParaRPr>
          </a:p>
          <a:p>
            <a:pPr marL="12700" marR="4050665">
              <a:lnSpc>
                <a:spcPct val="165300"/>
              </a:lnSpc>
            </a:pPr>
            <a:r>
              <a:rPr sz="1200" dirty="0">
                <a:latin typeface="Calibri"/>
                <a:cs typeface="Calibri"/>
              </a:rPr>
              <a:t>import </a:t>
            </a:r>
            <a:r>
              <a:rPr sz="1200" spc="-10" dirty="0">
                <a:latin typeface="Calibri"/>
                <a:cs typeface="Calibri"/>
              </a:rPr>
              <a:t>javax.servlet.http.*; </a:t>
            </a:r>
            <a:r>
              <a:rPr sz="1200" dirty="0">
                <a:latin typeface="Calibri"/>
                <a:cs typeface="Calibri"/>
              </a:rPr>
              <a:t>import</a:t>
            </a:r>
            <a:r>
              <a:rPr sz="1200" spc="-10" dirty="0">
                <a:latin typeface="Calibri"/>
                <a:cs typeface="Calibri"/>
              </a:rPr>
              <a:t> java.sql.*;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90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latin typeface="Calibri"/>
                <a:cs typeface="Calibri"/>
              </a:rPr>
              <a:t>public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class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LibraryServlet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extends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HttpServlet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50" dirty="0">
                <a:latin typeface="Calibri"/>
                <a:cs typeface="Calibri"/>
              </a:rPr>
              <a:t>{</a:t>
            </a:r>
            <a:endParaRPr sz="1200">
              <a:latin typeface="Calibri"/>
              <a:cs typeface="Calibri"/>
            </a:endParaRPr>
          </a:p>
          <a:p>
            <a:pPr marL="288290" marR="687705" indent="-138430">
              <a:lnSpc>
                <a:spcPct val="165300"/>
              </a:lnSpc>
            </a:pPr>
            <a:r>
              <a:rPr sz="1200" dirty="0">
                <a:latin typeface="Calibri"/>
                <a:cs typeface="Calibri"/>
              </a:rPr>
              <a:t>public</a:t>
            </a:r>
            <a:r>
              <a:rPr sz="1200" spc="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void</a:t>
            </a:r>
            <a:r>
              <a:rPr sz="1200" spc="2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doPost(HttpServletRequest</a:t>
            </a:r>
            <a:r>
              <a:rPr sz="1200" spc="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request,</a:t>
            </a:r>
            <a:r>
              <a:rPr sz="1200" spc="2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HttpServletResponse</a:t>
            </a:r>
            <a:r>
              <a:rPr sz="1200" spc="2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response) </a:t>
            </a:r>
            <a:r>
              <a:rPr sz="1200" dirty="0">
                <a:latin typeface="Calibri"/>
                <a:cs typeface="Calibri"/>
              </a:rPr>
              <a:t>throws</a:t>
            </a:r>
            <a:r>
              <a:rPr sz="1200" spc="2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ServletException,</a:t>
            </a:r>
            <a:r>
              <a:rPr sz="1200" spc="2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IOException</a:t>
            </a:r>
            <a:r>
              <a:rPr sz="1200" spc="20" dirty="0">
                <a:latin typeface="Calibri"/>
                <a:cs typeface="Calibri"/>
              </a:rPr>
              <a:t> </a:t>
            </a:r>
            <a:r>
              <a:rPr sz="1200" spc="-50" dirty="0">
                <a:latin typeface="Calibri"/>
                <a:cs typeface="Calibri"/>
              </a:rPr>
              <a:t>{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15"/>
              </a:spcBef>
            </a:pPr>
            <a:endParaRPr sz="1200">
              <a:latin typeface="Calibri"/>
              <a:cs typeface="Calibri"/>
            </a:endParaRPr>
          </a:p>
          <a:p>
            <a:pPr marL="288290" marR="2508885">
              <a:lnSpc>
                <a:spcPct val="165300"/>
              </a:lnSpc>
              <a:spcBef>
                <a:spcPts val="5"/>
              </a:spcBef>
            </a:pPr>
            <a:r>
              <a:rPr sz="1200" dirty="0">
                <a:latin typeface="Calibri"/>
                <a:cs typeface="Calibri"/>
              </a:rPr>
              <a:t>String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name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=</a:t>
            </a:r>
            <a:r>
              <a:rPr sz="1200" spc="-10" dirty="0">
                <a:latin typeface="Calibri"/>
                <a:cs typeface="Calibri"/>
              </a:rPr>
              <a:t> request.getParameter("name"); </a:t>
            </a:r>
            <a:r>
              <a:rPr sz="1200" dirty="0">
                <a:latin typeface="Calibri"/>
                <a:cs typeface="Calibri"/>
              </a:rPr>
              <a:t>String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email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=</a:t>
            </a:r>
            <a:r>
              <a:rPr sz="1200" spc="-10" dirty="0">
                <a:latin typeface="Calibri"/>
                <a:cs typeface="Calibri"/>
              </a:rPr>
              <a:t> request.getParameter("email"); </a:t>
            </a:r>
            <a:r>
              <a:rPr sz="1200" dirty="0">
                <a:latin typeface="Calibri"/>
                <a:cs typeface="Calibri"/>
              </a:rPr>
              <a:t>String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phone =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request.getParameter("phone"); </a:t>
            </a:r>
            <a:r>
              <a:rPr sz="1200" dirty="0">
                <a:latin typeface="Calibri"/>
                <a:cs typeface="Calibri"/>
              </a:rPr>
              <a:t>String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book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=</a:t>
            </a:r>
            <a:r>
              <a:rPr sz="1200" spc="-10" dirty="0">
                <a:latin typeface="Calibri"/>
                <a:cs typeface="Calibri"/>
              </a:rPr>
              <a:t> request.getParameter("book");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1700" y="1199598"/>
            <a:ext cx="4521835" cy="8372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829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try</a:t>
            </a:r>
            <a:r>
              <a:rPr sz="1200" spc="10" dirty="0">
                <a:latin typeface="Calibri"/>
                <a:cs typeface="Calibri"/>
              </a:rPr>
              <a:t> </a:t>
            </a:r>
            <a:r>
              <a:rPr sz="1200" spc="-50" dirty="0">
                <a:latin typeface="Calibri"/>
                <a:cs typeface="Calibri"/>
              </a:rPr>
              <a:t>{</a:t>
            </a:r>
            <a:endParaRPr sz="1200">
              <a:latin typeface="Calibri"/>
              <a:cs typeface="Calibri"/>
            </a:endParaRPr>
          </a:p>
          <a:p>
            <a:pPr marL="426084" marR="1066165">
              <a:lnSpc>
                <a:spcPct val="165300"/>
              </a:lnSpc>
            </a:pPr>
            <a:r>
              <a:rPr sz="1200" spc="-10" dirty="0">
                <a:latin typeface="Calibri"/>
                <a:cs typeface="Calibri"/>
              </a:rPr>
              <a:t>Class.forName("com.mysql.jdbc.Driver"); </a:t>
            </a:r>
            <a:r>
              <a:rPr sz="1200" dirty="0">
                <a:latin typeface="Calibri"/>
                <a:cs typeface="Calibri"/>
              </a:rPr>
              <a:t>Connection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con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=</a:t>
            </a:r>
            <a:r>
              <a:rPr sz="1200" spc="-10" dirty="0">
                <a:latin typeface="Calibri"/>
                <a:cs typeface="Calibri"/>
              </a:rPr>
              <a:t> DriverManager.getConnection(</a:t>
            </a:r>
            <a:endParaRPr sz="1200">
              <a:latin typeface="Calibri"/>
              <a:cs typeface="Calibri"/>
            </a:endParaRPr>
          </a:p>
          <a:p>
            <a:pPr marL="563880">
              <a:lnSpc>
                <a:spcPct val="100000"/>
              </a:lnSpc>
              <a:spcBef>
                <a:spcPts val="940"/>
              </a:spcBef>
            </a:pPr>
            <a:r>
              <a:rPr sz="1200" spc="-10" dirty="0">
                <a:latin typeface="Calibri"/>
                <a:cs typeface="Calibri"/>
              </a:rPr>
              <a:t>"jdbc:mysql://localhost:3306/library",</a:t>
            </a:r>
            <a:r>
              <a:rPr sz="1200" spc="7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"root",</a:t>
            </a:r>
            <a:r>
              <a:rPr sz="1200" spc="7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"password");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90"/>
              </a:spcBef>
            </a:pPr>
            <a:endParaRPr sz="1200">
              <a:latin typeface="Calibri"/>
              <a:cs typeface="Calibri"/>
            </a:endParaRPr>
          </a:p>
          <a:p>
            <a:pPr marL="426084">
              <a:lnSpc>
                <a:spcPct val="100000"/>
              </a:lnSpc>
            </a:pPr>
            <a:r>
              <a:rPr sz="1200" spc="-10" dirty="0">
                <a:latin typeface="Calibri"/>
                <a:cs typeface="Calibri"/>
              </a:rPr>
              <a:t>PreparedStatement</a:t>
            </a:r>
            <a:r>
              <a:rPr sz="1200" dirty="0">
                <a:latin typeface="Calibri"/>
                <a:cs typeface="Calibri"/>
              </a:rPr>
              <a:t> ps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=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con.prepareStatement(</a:t>
            </a:r>
            <a:endParaRPr sz="1200">
              <a:latin typeface="Calibri"/>
              <a:cs typeface="Calibri"/>
            </a:endParaRPr>
          </a:p>
          <a:p>
            <a:pPr marL="563880">
              <a:lnSpc>
                <a:spcPct val="100000"/>
              </a:lnSpc>
              <a:spcBef>
                <a:spcPts val="945"/>
              </a:spcBef>
            </a:pPr>
            <a:r>
              <a:rPr sz="1200" dirty="0">
                <a:latin typeface="Calibri"/>
                <a:cs typeface="Calibri"/>
              </a:rPr>
              <a:t>"INSERT</a:t>
            </a:r>
            <a:r>
              <a:rPr sz="1200" spc="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INTO</a:t>
            </a:r>
            <a:r>
              <a:rPr sz="1200" spc="1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users(name,email,phone,book)</a:t>
            </a:r>
            <a:r>
              <a:rPr sz="1200" spc="1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VALUES(?,?,?,?)");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15"/>
              </a:spcBef>
            </a:pPr>
            <a:endParaRPr sz="1200">
              <a:latin typeface="Calibri"/>
              <a:cs typeface="Calibri"/>
            </a:endParaRPr>
          </a:p>
          <a:p>
            <a:pPr marL="426084" marR="2684145">
              <a:lnSpc>
                <a:spcPct val="165300"/>
              </a:lnSpc>
            </a:pPr>
            <a:r>
              <a:rPr sz="1200" dirty="0">
                <a:latin typeface="Calibri"/>
                <a:cs typeface="Calibri"/>
              </a:rPr>
              <a:t>ps.setString(1,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name); </a:t>
            </a:r>
            <a:r>
              <a:rPr sz="1200" dirty="0">
                <a:latin typeface="Calibri"/>
                <a:cs typeface="Calibri"/>
              </a:rPr>
              <a:t>ps.setString(2,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email); </a:t>
            </a:r>
            <a:r>
              <a:rPr sz="1200" dirty="0">
                <a:latin typeface="Calibri"/>
                <a:cs typeface="Calibri"/>
              </a:rPr>
              <a:t>ps.setString(3,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phone); </a:t>
            </a:r>
            <a:r>
              <a:rPr sz="1200" dirty="0">
                <a:latin typeface="Calibri"/>
                <a:cs typeface="Calibri"/>
              </a:rPr>
              <a:t>ps.setString(4,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book);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90"/>
              </a:spcBef>
            </a:pPr>
            <a:endParaRPr sz="1200">
              <a:latin typeface="Calibri"/>
              <a:cs typeface="Calibri"/>
            </a:endParaRPr>
          </a:p>
          <a:p>
            <a:pPr marL="426084">
              <a:lnSpc>
                <a:spcPct val="100000"/>
              </a:lnSpc>
            </a:pPr>
            <a:r>
              <a:rPr sz="1200" dirty="0">
                <a:latin typeface="Calibri"/>
                <a:cs typeface="Calibri"/>
              </a:rPr>
              <a:t>int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=</a:t>
            </a:r>
            <a:r>
              <a:rPr sz="1200" spc="-10" dirty="0">
                <a:latin typeface="Calibri"/>
                <a:cs typeface="Calibri"/>
              </a:rPr>
              <a:t> ps.executeUpdate();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15"/>
              </a:spcBef>
            </a:pPr>
            <a:endParaRPr sz="1200">
              <a:latin typeface="Calibri"/>
              <a:cs typeface="Calibri"/>
            </a:endParaRPr>
          </a:p>
          <a:p>
            <a:pPr marL="426084" marR="1671955">
              <a:lnSpc>
                <a:spcPct val="165300"/>
              </a:lnSpc>
            </a:pPr>
            <a:r>
              <a:rPr sz="1200" spc="-10" dirty="0">
                <a:latin typeface="Calibri"/>
                <a:cs typeface="Calibri"/>
              </a:rPr>
              <a:t>response.setContentType("text/html"); PrintWriter</a:t>
            </a:r>
            <a:r>
              <a:rPr sz="1200" spc="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out</a:t>
            </a:r>
            <a:r>
              <a:rPr sz="1200" spc="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=</a:t>
            </a:r>
            <a:r>
              <a:rPr sz="1200" spc="1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response.getWriter();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95"/>
              </a:spcBef>
            </a:pPr>
            <a:endParaRPr sz="1200">
              <a:latin typeface="Calibri"/>
              <a:cs typeface="Calibri"/>
            </a:endParaRPr>
          </a:p>
          <a:p>
            <a:pPr marL="426084">
              <a:lnSpc>
                <a:spcPct val="100000"/>
              </a:lnSpc>
            </a:pPr>
            <a:r>
              <a:rPr sz="1200" dirty="0">
                <a:latin typeface="Calibri"/>
                <a:cs typeface="Calibri"/>
              </a:rPr>
              <a:t>if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(i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&gt;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0)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spc="-50" dirty="0">
                <a:latin typeface="Calibri"/>
                <a:cs typeface="Calibri"/>
              </a:rPr>
              <a:t>{</a:t>
            </a:r>
            <a:endParaRPr sz="1200">
              <a:latin typeface="Calibri"/>
              <a:cs typeface="Calibri"/>
            </a:endParaRPr>
          </a:p>
          <a:p>
            <a:pPr marL="563880">
              <a:lnSpc>
                <a:spcPct val="100000"/>
              </a:lnSpc>
              <a:spcBef>
                <a:spcPts val="940"/>
              </a:spcBef>
            </a:pPr>
            <a:r>
              <a:rPr sz="1200" spc="-10" dirty="0">
                <a:latin typeface="Calibri"/>
                <a:cs typeface="Calibri"/>
              </a:rPr>
              <a:t>out.println("&lt;h3&gt;Record</a:t>
            </a:r>
            <a:r>
              <a:rPr sz="1200" spc="6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Inserted</a:t>
            </a:r>
            <a:r>
              <a:rPr sz="1200" spc="6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Successfully!&lt;/h3&gt;");</a:t>
            </a:r>
            <a:endParaRPr sz="1200">
              <a:latin typeface="Calibri"/>
              <a:cs typeface="Calibri"/>
            </a:endParaRPr>
          </a:p>
          <a:p>
            <a:pPr marL="426084">
              <a:lnSpc>
                <a:spcPct val="100000"/>
              </a:lnSpc>
              <a:spcBef>
                <a:spcPts val="940"/>
              </a:spcBef>
            </a:pPr>
            <a:r>
              <a:rPr sz="1200" dirty="0">
                <a:latin typeface="Calibri"/>
                <a:cs typeface="Calibri"/>
              </a:rPr>
              <a:t>}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else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spc="-50" dirty="0">
                <a:latin typeface="Calibri"/>
                <a:cs typeface="Calibri"/>
              </a:rPr>
              <a:t>{</a:t>
            </a:r>
            <a:endParaRPr sz="1200">
              <a:latin typeface="Calibri"/>
              <a:cs typeface="Calibri"/>
            </a:endParaRPr>
          </a:p>
          <a:p>
            <a:pPr marL="563880">
              <a:lnSpc>
                <a:spcPct val="100000"/>
              </a:lnSpc>
              <a:spcBef>
                <a:spcPts val="940"/>
              </a:spcBef>
            </a:pPr>
            <a:r>
              <a:rPr sz="1200" dirty="0">
                <a:latin typeface="Calibri"/>
                <a:cs typeface="Calibri"/>
              </a:rPr>
              <a:t>out.println("&lt;h3&gt;Error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inserting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record&lt;/h3&gt;");</a:t>
            </a:r>
            <a:endParaRPr sz="1200">
              <a:latin typeface="Calibri"/>
              <a:cs typeface="Calibri"/>
            </a:endParaRPr>
          </a:p>
          <a:p>
            <a:pPr marL="426084">
              <a:lnSpc>
                <a:spcPct val="100000"/>
              </a:lnSpc>
              <a:spcBef>
                <a:spcPts val="945"/>
              </a:spcBef>
            </a:pPr>
            <a:r>
              <a:rPr sz="1200" spc="-50" dirty="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 marL="426084" marR="2887980" indent="-138430">
              <a:lnSpc>
                <a:spcPct val="165300"/>
              </a:lnSpc>
            </a:pPr>
            <a:r>
              <a:rPr sz="1200" dirty="0">
                <a:latin typeface="Calibri"/>
                <a:cs typeface="Calibri"/>
              </a:rPr>
              <a:t>}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catch</a:t>
            </a:r>
            <a:r>
              <a:rPr sz="1200" spc="-10" dirty="0">
                <a:latin typeface="Calibri"/>
                <a:cs typeface="Calibri"/>
              </a:rPr>
              <a:t> (Exception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e)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spc="-50" dirty="0">
                <a:latin typeface="Calibri"/>
                <a:cs typeface="Calibri"/>
              </a:rPr>
              <a:t>{ </a:t>
            </a:r>
            <a:r>
              <a:rPr sz="1200" spc="-10" dirty="0">
                <a:latin typeface="Calibri"/>
                <a:cs typeface="Calibri"/>
              </a:rPr>
              <a:t>e.printStackTrace();</a:t>
            </a:r>
            <a:endParaRPr sz="1200">
              <a:latin typeface="Calibri"/>
              <a:cs typeface="Calibri"/>
            </a:endParaRPr>
          </a:p>
          <a:p>
            <a:pPr marL="288290">
              <a:lnSpc>
                <a:spcPct val="100000"/>
              </a:lnSpc>
              <a:spcBef>
                <a:spcPts val="940"/>
              </a:spcBef>
            </a:pPr>
            <a:r>
              <a:rPr sz="1200" spc="-50" dirty="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 marL="150495">
              <a:lnSpc>
                <a:spcPct val="100000"/>
              </a:lnSpc>
              <a:spcBef>
                <a:spcPts val="940"/>
              </a:spcBef>
            </a:pPr>
            <a:r>
              <a:rPr sz="1200" spc="-50" dirty="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1200" spc="-50" dirty="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1700" y="895746"/>
            <a:ext cx="3934460" cy="874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latin typeface="Calibri"/>
                <a:cs typeface="Calibri"/>
              </a:rPr>
              <a:t>3.</a:t>
            </a:r>
            <a:r>
              <a:rPr sz="1600" b="1" spc="-4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JSP</a:t>
            </a:r>
            <a:r>
              <a:rPr sz="1600" b="1" spc="-4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Page</a:t>
            </a:r>
            <a:r>
              <a:rPr sz="1600" b="1" spc="-35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(Display):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</a:pPr>
            <a:r>
              <a:rPr sz="1200" dirty="0">
                <a:latin typeface="Calibri"/>
                <a:cs typeface="Calibri"/>
              </a:rPr>
              <a:t>&lt;%@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page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import="java.sql.*"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%&gt;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1200" spc="-10" dirty="0">
                <a:latin typeface="Calibri"/>
                <a:cs typeface="Calibri"/>
              </a:rPr>
              <a:t>&lt;html&gt;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1200" spc="-10" dirty="0">
                <a:latin typeface="Calibri"/>
                <a:cs typeface="Calibri"/>
              </a:rPr>
              <a:t>&lt;body&gt;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1200" dirty="0">
                <a:latin typeface="Calibri"/>
                <a:cs typeface="Calibri"/>
              </a:rPr>
              <a:t>&lt;h2&gt;Library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Records&lt;/h2&gt;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1200" dirty="0">
                <a:latin typeface="Calibri"/>
                <a:cs typeface="Calibri"/>
              </a:rPr>
              <a:t>&lt;table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border="1"&gt;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1200" spc="-20" dirty="0">
                <a:latin typeface="Calibri"/>
                <a:cs typeface="Calibri"/>
              </a:rPr>
              <a:t>&lt;tr&gt;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45"/>
              </a:spcBef>
            </a:pPr>
            <a:r>
              <a:rPr sz="1200" spc="-10" dirty="0">
                <a:latin typeface="Calibri"/>
                <a:cs typeface="Calibri"/>
              </a:rPr>
              <a:t>&lt;th&gt;Name&lt;/th&gt;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1200" spc="-10" dirty="0">
                <a:latin typeface="Calibri"/>
                <a:cs typeface="Calibri"/>
              </a:rPr>
              <a:t>&lt;th&gt;Email&lt;/th&gt;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1200" spc="-10" dirty="0">
                <a:latin typeface="Calibri"/>
                <a:cs typeface="Calibri"/>
              </a:rPr>
              <a:t>&lt;th&gt;Phone&lt;/th&gt;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1200" spc="-10" dirty="0">
                <a:latin typeface="Calibri"/>
                <a:cs typeface="Calibri"/>
              </a:rPr>
              <a:t>&lt;th&gt;Book&lt;/th&gt;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1200" spc="-10" dirty="0">
                <a:latin typeface="Calibri"/>
                <a:cs typeface="Calibri"/>
              </a:rPr>
              <a:t>&lt;/tr&gt;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1200" spc="-25" dirty="0">
                <a:latin typeface="Calibri"/>
                <a:cs typeface="Calibri"/>
              </a:rPr>
              <a:t>&lt;%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45"/>
              </a:spcBef>
            </a:pPr>
            <a:r>
              <a:rPr sz="1200" dirty="0">
                <a:latin typeface="Calibri"/>
                <a:cs typeface="Calibri"/>
              </a:rPr>
              <a:t>try</a:t>
            </a:r>
            <a:r>
              <a:rPr sz="1200" spc="10" dirty="0">
                <a:latin typeface="Calibri"/>
                <a:cs typeface="Calibri"/>
              </a:rPr>
              <a:t> </a:t>
            </a:r>
            <a:r>
              <a:rPr sz="1200" spc="-50" dirty="0">
                <a:latin typeface="Calibri"/>
                <a:cs typeface="Calibri"/>
              </a:rPr>
              <a:t>{</a:t>
            </a:r>
            <a:endParaRPr sz="1200">
              <a:latin typeface="Calibri"/>
              <a:cs typeface="Calibri"/>
            </a:endParaRPr>
          </a:p>
          <a:p>
            <a:pPr marL="150495" marR="754380">
              <a:lnSpc>
                <a:spcPct val="165300"/>
              </a:lnSpc>
            </a:pPr>
            <a:r>
              <a:rPr sz="1200" spc="-10" dirty="0">
                <a:latin typeface="Calibri"/>
                <a:cs typeface="Calibri"/>
              </a:rPr>
              <a:t>Class.forName("com.mysql.jdbc.Driver"); </a:t>
            </a:r>
            <a:r>
              <a:rPr sz="1200" dirty="0">
                <a:latin typeface="Calibri"/>
                <a:cs typeface="Calibri"/>
              </a:rPr>
              <a:t>Connection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con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=</a:t>
            </a:r>
            <a:r>
              <a:rPr sz="1200" spc="-10" dirty="0">
                <a:latin typeface="Calibri"/>
                <a:cs typeface="Calibri"/>
              </a:rPr>
              <a:t> DriverManager.getConnection(</a:t>
            </a:r>
            <a:endParaRPr sz="1200">
              <a:latin typeface="Calibri"/>
              <a:cs typeface="Calibri"/>
            </a:endParaRPr>
          </a:p>
          <a:p>
            <a:pPr marL="150495" marR="5080" indent="137795">
              <a:lnSpc>
                <a:spcPct val="165300"/>
              </a:lnSpc>
            </a:pPr>
            <a:r>
              <a:rPr sz="1200" spc="-10" dirty="0">
                <a:latin typeface="Calibri"/>
                <a:cs typeface="Calibri"/>
              </a:rPr>
              <a:t>"jdbc:mysql://localhost:3306/library",</a:t>
            </a:r>
            <a:r>
              <a:rPr sz="1200" spc="7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"root",</a:t>
            </a:r>
            <a:r>
              <a:rPr sz="1200" spc="7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"password"); Statement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stmt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=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con.createStatement();</a:t>
            </a:r>
            <a:endParaRPr sz="1200">
              <a:latin typeface="Calibri"/>
              <a:cs typeface="Calibri"/>
            </a:endParaRPr>
          </a:p>
          <a:p>
            <a:pPr marL="150495" marR="147320">
              <a:lnSpc>
                <a:spcPct val="165300"/>
              </a:lnSpc>
            </a:pPr>
            <a:r>
              <a:rPr sz="1200" spc="-10" dirty="0">
                <a:latin typeface="Calibri"/>
                <a:cs typeface="Calibri"/>
              </a:rPr>
              <a:t>ResultSet</a:t>
            </a:r>
            <a:r>
              <a:rPr sz="1200" dirty="0">
                <a:latin typeface="Calibri"/>
                <a:cs typeface="Calibri"/>
              </a:rPr>
              <a:t> rs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=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stmt.executeQuery("SELECT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*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FROM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users"); while(rs.next())</a:t>
            </a:r>
            <a:r>
              <a:rPr sz="1200" spc="80" dirty="0">
                <a:latin typeface="Calibri"/>
                <a:cs typeface="Calibri"/>
              </a:rPr>
              <a:t> </a:t>
            </a:r>
            <a:r>
              <a:rPr sz="1200" spc="-50" dirty="0">
                <a:latin typeface="Calibri"/>
                <a:cs typeface="Calibri"/>
              </a:rPr>
              <a:t>{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1200" spc="-25" dirty="0">
                <a:latin typeface="Calibri"/>
                <a:cs typeface="Calibri"/>
              </a:rPr>
              <a:t>%&gt;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1200" spc="-20" dirty="0">
                <a:latin typeface="Calibri"/>
                <a:cs typeface="Calibri"/>
              </a:rPr>
              <a:t>&lt;tr&gt;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1200" dirty="0">
                <a:latin typeface="Calibri"/>
                <a:cs typeface="Calibri"/>
              </a:rPr>
              <a:t>&lt;td&gt;&lt;%=</a:t>
            </a:r>
            <a:r>
              <a:rPr sz="1200" spc="-5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rs.getString("name")</a:t>
            </a:r>
            <a:r>
              <a:rPr sz="1200" spc="-5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%&gt;&lt;/td&gt;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1200" dirty="0">
                <a:latin typeface="Calibri"/>
                <a:cs typeface="Calibri"/>
              </a:rPr>
              <a:t>&lt;td&gt;&lt;%=</a:t>
            </a:r>
            <a:r>
              <a:rPr sz="1200" spc="-5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rs.getString("email")</a:t>
            </a:r>
            <a:r>
              <a:rPr sz="1200" spc="-5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%&gt;&lt;/td&gt;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45"/>
              </a:spcBef>
            </a:pPr>
            <a:r>
              <a:rPr sz="1200" dirty="0">
                <a:latin typeface="Calibri"/>
                <a:cs typeface="Calibri"/>
              </a:rPr>
              <a:t>&lt;td&gt;&lt;%=</a:t>
            </a:r>
            <a:r>
              <a:rPr sz="1200" spc="-5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rs.getString("phone")</a:t>
            </a:r>
            <a:r>
              <a:rPr sz="1200" spc="-5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%&gt;&lt;/td&gt;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1200" dirty="0">
                <a:latin typeface="Calibri"/>
                <a:cs typeface="Calibri"/>
              </a:rPr>
              <a:t>&lt;td&gt;&lt;%=</a:t>
            </a:r>
            <a:r>
              <a:rPr sz="1200" spc="-5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rs.getString("book")</a:t>
            </a:r>
            <a:r>
              <a:rPr sz="1200" spc="-5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%&gt;&lt;/td&gt;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1200" spc="-10" dirty="0">
                <a:latin typeface="Calibri"/>
                <a:cs typeface="Calibri"/>
              </a:rPr>
              <a:t>&lt;/tr&gt;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1200" spc="-25" dirty="0">
                <a:latin typeface="Calibri"/>
                <a:cs typeface="Calibri"/>
              </a:rPr>
              <a:t>&lt;%</a:t>
            </a:r>
            <a:endParaRPr sz="1200">
              <a:latin typeface="Calibri"/>
              <a:cs typeface="Calibri"/>
            </a:endParaRPr>
          </a:p>
          <a:p>
            <a:pPr marL="150495">
              <a:lnSpc>
                <a:spcPct val="100000"/>
              </a:lnSpc>
              <a:spcBef>
                <a:spcPts val="940"/>
              </a:spcBef>
            </a:pPr>
            <a:r>
              <a:rPr sz="1200" spc="-50" dirty="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1700" y="897235"/>
            <a:ext cx="1324610" cy="2022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} </a:t>
            </a:r>
            <a:r>
              <a:rPr sz="1200" spc="-10" dirty="0">
                <a:latin typeface="Calibri"/>
                <a:cs typeface="Calibri"/>
              </a:rPr>
              <a:t>catch(Exception</a:t>
            </a:r>
            <a:r>
              <a:rPr sz="1200" dirty="0">
                <a:latin typeface="Calibri"/>
                <a:cs typeface="Calibri"/>
              </a:rPr>
              <a:t> e)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spc="-50" dirty="0">
                <a:latin typeface="Calibri"/>
                <a:cs typeface="Calibri"/>
              </a:rPr>
              <a:t>{</a:t>
            </a:r>
            <a:endParaRPr sz="1200">
              <a:latin typeface="Calibri"/>
              <a:cs typeface="Calibri"/>
            </a:endParaRPr>
          </a:p>
          <a:p>
            <a:pPr marL="150495">
              <a:lnSpc>
                <a:spcPct val="100000"/>
              </a:lnSpc>
              <a:spcBef>
                <a:spcPts val="940"/>
              </a:spcBef>
            </a:pPr>
            <a:r>
              <a:rPr sz="1200" spc="-10" dirty="0">
                <a:latin typeface="Calibri"/>
                <a:cs typeface="Calibri"/>
              </a:rPr>
              <a:t>out.println(e);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1200" spc="-50" dirty="0">
                <a:latin typeface="Calibri"/>
                <a:cs typeface="Calibri"/>
              </a:rPr>
              <a:t>}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1200" spc="-25" dirty="0">
                <a:latin typeface="Calibri"/>
                <a:cs typeface="Calibri"/>
              </a:rPr>
              <a:t>%&gt;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1200" spc="-10" dirty="0">
                <a:latin typeface="Calibri"/>
                <a:cs typeface="Calibri"/>
              </a:rPr>
              <a:t>&lt;/table&gt;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45"/>
              </a:spcBef>
            </a:pPr>
            <a:r>
              <a:rPr sz="1200" spc="-10" dirty="0">
                <a:latin typeface="Calibri"/>
                <a:cs typeface="Calibri"/>
              </a:rPr>
              <a:t>&lt;/body&gt;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1200" spc="-10" dirty="0">
                <a:latin typeface="Calibri"/>
                <a:cs typeface="Calibri"/>
              </a:rPr>
              <a:t>&lt;/html&gt;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1700" y="3381573"/>
            <a:ext cx="3244215" cy="39052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latin typeface="Calibri"/>
                <a:cs typeface="Calibri"/>
              </a:rPr>
              <a:t>4.</a:t>
            </a:r>
            <a:r>
              <a:rPr sz="1600" b="1" spc="-4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Simple</a:t>
            </a:r>
            <a:r>
              <a:rPr sz="1600" b="1" spc="-40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Weather</a:t>
            </a:r>
            <a:r>
              <a:rPr sz="1600" b="1" spc="-40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Webpage</a:t>
            </a:r>
            <a:r>
              <a:rPr sz="1600" b="1" spc="-4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(UI</a:t>
            </a:r>
            <a:r>
              <a:rPr sz="1600" b="1" spc="-40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only):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</a:pPr>
            <a:r>
              <a:rPr sz="1200" dirty="0">
                <a:latin typeface="Calibri"/>
                <a:cs typeface="Calibri"/>
              </a:rPr>
              <a:t>&lt;!DOCTYPE</a:t>
            </a:r>
            <a:r>
              <a:rPr sz="1200" spc="-5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html&gt;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1200" spc="-10" dirty="0">
                <a:latin typeface="Calibri"/>
                <a:cs typeface="Calibri"/>
              </a:rPr>
              <a:t>&lt;html&gt;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1200" spc="-10" dirty="0">
                <a:latin typeface="Calibri"/>
                <a:cs typeface="Calibri"/>
              </a:rPr>
              <a:t>&lt;head&gt;</a:t>
            </a:r>
            <a:endParaRPr sz="1200">
              <a:latin typeface="Calibri"/>
              <a:cs typeface="Calibri"/>
            </a:endParaRPr>
          </a:p>
          <a:p>
            <a:pPr marL="150495">
              <a:lnSpc>
                <a:spcPct val="100000"/>
              </a:lnSpc>
              <a:spcBef>
                <a:spcPts val="940"/>
              </a:spcBef>
            </a:pPr>
            <a:r>
              <a:rPr sz="1200" spc="-10" dirty="0">
                <a:latin typeface="Calibri"/>
                <a:cs typeface="Calibri"/>
              </a:rPr>
              <a:t>&lt;title&gt;Weather</a:t>
            </a:r>
            <a:r>
              <a:rPr sz="1200" spc="6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Info&lt;/title&gt;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1200" spc="-10" dirty="0">
                <a:latin typeface="Calibri"/>
                <a:cs typeface="Calibri"/>
              </a:rPr>
              <a:t>&lt;/head&gt;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1200" spc="-10" dirty="0">
                <a:latin typeface="Calibri"/>
                <a:cs typeface="Calibri"/>
              </a:rPr>
              <a:t>&lt;body&gt;</a:t>
            </a:r>
            <a:endParaRPr sz="1200">
              <a:latin typeface="Calibri"/>
              <a:cs typeface="Calibri"/>
            </a:endParaRPr>
          </a:p>
          <a:p>
            <a:pPr marL="150495">
              <a:lnSpc>
                <a:spcPct val="100000"/>
              </a:lnSpc>
              <a:spcBef>
                <a:spcPts val="945"/>
              </a:spcBef>
            </a:pPr>
            <a:r>
              <a:rPr sz="1200" spc="-10" dirty="0">
                <a:latin typeface="Calibri"/>
                <a:cs typeface="Calibri"/>
              </a:rPr>
              <a:t>&lt;h1&gt;Weather</a:t>
            </a:r>
            <a:r>
              <a:rPr sz="1200" spc="3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Information&lt;/h1&gt;</a:t>
            </a:r>
            <a:endParaRPr sz="1200">
              <a:latin typeface="Calibri"/>
              <a:cs typeface="Calibri"/>
            </a:endParaRPr>
          </a:p>
          <a:p>
            <a:pPr marL="150495">
              <a:lnSpc>
                <a:spcPct val="100000"/>
              </a:lnSpc>
              <a:spcBef>
                <a:spcPts val="940"/>
              </a:spcBef>
            </a:pPr>
            <a:r>
              <a:rPr sz="1200" dirty="0">
                <a:latin typeface="Calibri"/>
                <a:cs typeface="Calibri"/>
              </a:rPr>
              <a:t>&lt;p&gt;City: </a:t>
            </a:r>
            <a:r>
              <a:rPr sz="1200" spc="-10" dirty="0">
                <a:latin typeface="Calibri"/>
                <a:cs typeface="Calibri"/>
              </a:rPr>
              <a:t>Chennai&lt;/p&gt;</a:t>
            </a:r>
            <a:endParaRPr sz="1200">
              <a:latin typeface="Calibri"/>
              <a:cs typeface="Calibri"/>
            </a:endParaRPr>
          </a:p>
          <a:p>
            <a:pPr marL="150495">
              <a:lnSpc>
                <a:spcPct val="100000"/>
              </a:lnSpc>
              <a:spcBef>
                <a:spcPts val="940"/>
              </a:spcBef>
            </a:pPr>
            <a:r>
              <a:rPr sz="1200" spc="-10" dirty="0">
                <a:latin typeface="Calibri"/>
                <a:cs typeface="Calibri"/>
              </a:rPr>
              <a:t>&lt;p&gt;Temperature:</a:t>
            </a:r>
            <a:r>
              <a:rPr sz="1200" spc="-5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32°C&lt;/p&gt;</a:t>
            </a:r>
            <a:endParaRPr sz="1200">
              <a:latin typeface="Calibri"/>
              <a:cs typeface="Calibri"/>
            </a:endParaRPr>
          </a:p>
          <a:p>
            <a:pPr marL="150495">
              <a:lnSpc>
                <a:spcPct val="100000"/>
              </a:lnSpc>
              <a:spcBef>
                <a:spcPts val="940"/>
              </a:spcBef>
            </a:pPr>
            <a:r>
              <a:rPr sz="1200" dirty="0">
                <a:latin typeface="Calibri"/>
                <a:cs typeface="Calibri"/>
              </a:rPr>
              <a:t>&lt;p&gt;Condition: </a:t>
            </a:r>
            <a:r>
              <a:rPr sz="1200" spc="-10" dirty="0">
                <a:latin typeface="Calibri"/>
                <a:cs typeface="Calibri"/>
              </a:rPr>
              <a:t>Sunny&lt;/p&gt;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1200" spc="-10" dirty="0">
                <a:latin typeface="Calibri"/>
                <a:cs typeface="Calibri"/>
              </a:rPr>
              <a:t>&lt;/body&gt;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1200" spc="-10" dirty="0">
                <a:latin typeface="Calibri"/>
                <a:cs typeface="Calibri"/>
              </a:rPr>
              <a:t>&lt;/html&gt;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1700" y="895746"/>
            <a:ext cx="68707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10" dirty="0">
                <a:latin typeface="Calibri"/>
                <a:cs typeface="Calibri"/>
              </a:rPr>
              <a:t>Output: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3450" y="1672022"/>
            <a:ext cx="5972175" cy="295274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3450" y="6032500"/>
            <a:ext cx="6000750" cy="28670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60F2F78-3476-3701-EAC1-CEB48A3C340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574" y="1669482"/>
            <a:ext cx="6397625" cy="36258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1700" y="1265032"/>
            <a:ext cx="5749925" cy="8470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10" dirty="0">
                <a:latin typeface="Calibri"/>
                <a:cs typeface="Calibri"/>
              </a:rPr>
              <a:t>Result:</a:t>
            </a:r>
            <a:endParaRPr sz="1600">
              <a:latin typeface="Calibri"/>
              <a:cs typeface="Calibri"/>
            </a:endParaRPr>
          </a:p>
          <a:p>
            <a:pPr marL="12700" marR="5080" indent="678180">
              <a:lnSpc>
                <a:spcPct val="119400"/>
              </a:lnSpc>
              <a:spcBef>
                <a:spcPts val="1105"/>
              </a:spcBef>
            </a:pPr>
            <a:r>
              <a:rPr sz="1200" dirty="0">
                <a:latin typeface="Calibri"/>
                <a:cs typeface="Calibri"/>
              </a:rPr>
              <a:t>Thus,</a:t>
            </a:r>
            <a:r>
              <a:rPr sz="1200" spc="1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12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Library</a:t>
            </a:r>
            <a:r>
              <a:rPr sz="1200" b="1" spc="12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Management</a:t>
            </a:r>
            <a:r>
              <a:rPr sz="1200" b="1" spc="12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System</a:t>
            </a:r>
            <a:r>
              <a:rPr sz="1200" b="1" spc="1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with</a:t>
            </a:r>
            <a:r>
              <a:rPr sz="1200" spc="1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JavaScript</a:t>
            </a:r>
            <a:r>
              <a:rPr sz="1200" spc="1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validation</a:t>
            </a:r>
            <a:r>
              <a:rPr sz="1200" spc="1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12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database </a:t>
            </a:r>
            <a:r>
              <a:rPr sz="1200" dirty="0">
                <a:latin typeface="Calibri"/>
                <a:cs typeface="Calibri"/>
              </a:rPr>
              <a:t>connectivity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using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Servlet</a:t>
            </a:r>
            <a:r>
              <a:rPr sz="1200" b="1" spc="-1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and</a:t>
            </a:r>
            <a:r>
              <a:rPr sz="1200" b="1" spc="-1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JSP</a:t>
            </a:r>
            <a:r>
              <a:rPr sz="1200" b="1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was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successfully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developed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executed.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Words>1038</Words>
  <Application>Microsoft Office PowerPoint</Application>
  <PresentationFormat>Custom</PresentationFormat>
  <Paragraphs>146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241501079 exp-08.docx</dc:title>
  <cp:lastModifiedBy>SURIYA T</cp:lastModifiedBy>
  <cp:revision>1</cp:revision>
  <dcterms:created xsi:type="dcterms:W3CDTF">2026-05-06T03:32:49Z</dcterms:created>
  <dcterms:modified xsi:type="dcterms:W3CDTF">2026-05-06T04:01:06Z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2026-05-06T00:00:00Z</vt:filetime>
  </property>
  <property fmtid="{D5CDD505-2E9C-101B-9397-08002B2CF9AE}" pid="3" name="Producer">
    <vt:lpwstr>Skia/PDF m148 Google Docs Renderer</vt:lpwstr>
  </property>
  <property fmtid="{D5CDD505-2E9C-101B-9397-08002B2CF9AE}" pid="4" name="LastSaved">
    <vt:filetime>2026-05-06T00:00:00Z</vt:filetime>
  </property>
</Properties>
</file>