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1435" y="-91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IYA T" userId="2d8c54d4828ef1cf" providerId="LiveId" clId="{87B3DC7B-09BD-4142-9DDE-040FAA37A2EE}"/>
    <pc:docChg chg="modSld">
      <pc:chgData name="SURIYA T" userId="2d8c54d4828ef1cf" providerId="LiveId" clId="{87B3DC7B-09BD-4142-9DDE-040FAA37A2EE}" dt="2026-05-06T03:54:43.017" v="5" actId="1076"/>
      <pc:docMkLst>
        <pc:docMk/>
      </pc:docMkLst>
      <pc:sldChg chg="addSp modSp mod">
        <pc:chgData name="SURIYA T" userId="2d8c54d4828ef1cf" providerId="LiveId" clId="{87B3DC7B-09BD-4142-9DDE-040FAA37A2EE}" dt="2026-05-06T03:54:43.017" v="5" actId="1076"/>
        <pc:sldMkLst>
          <pc:docMk/>
          <pc:sldMk cId="0" sldId="259"/>
        </pc:sldMkLst>
        <pc:picChg chg="mod modCrop">
          <ac:chgData name="SURIYA T" userId="2d8c54d4828ef1cf" providerId="LiveId" clId="{87B3DC7B-09BD-4142-9DDE-040FAA37A2EE}" dt="2026-05-06T03:54:43.017" v="5" actId="1076"/>
          <ac:picMkLst>
            <pc:docMk/>
            <pc:sldMk cId="0" sldId="259"/>
            <ac:picMk id="4" creationId="{00000000-0000-0000-0000-000000000000}"/>
          </ac:picMkLst>
        </pc:picChg>
        <pc:picChg chg="add mod">
          <ac:chgData name="SURIYA T" userId="2d8c54d4828ef1cf" providerId="LiveId" clId="{87B3DC7B-09BD-4142-9DDE-040FAA37A2EE}" dt="2026-05-06T03:49:36.428" v="3" actId="14100"/>
          <ac:picMkLst>
            <pc:docMk/>
            <pc:sldMk cId="0" sldId="259"/>
            <ac:picMk id="6" creationId="{2FA4A5B8-8DA8-3A17-2A8B-4D07DCF3DD4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817" y="432181"/>
            <a:ext cx="6076950" cy="73596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85725" marR="5080" indent="-73025">
              <a:lnSpc>
                <a:spcPts val="1830"/>
              </a:lnSpc>
              <a:spcBef>
                <a:spcPts val="235"/>
              </a:spcBef>
            </a:pPr>
            <a:r>
              <a:rPr sz="1600" b="1" dirty="0">
                <a:latin typeface="Times New Roman"/>
                <a:cs typeface="Times New Roman"/>
              </a:rPr>
              <a:t>7.</a:t>
            </a:r>
            <a:r>
              <a:rPr sz="1600" b="1" spc="-8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Write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Servlet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program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to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store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user's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preferences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(like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theme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or </a:t>
            </a:r>
            <a:r>
              <a:rPr sz="1600" b="1" dirty="0">
                <a:latin typeface="Times New Roman"/>
                <a:cs typeface="Times New Roman"/>
              </a:rPr>
              <a:t>language)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using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cookies.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Retrieve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and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display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these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preferences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on</a:t>
            </a:r>
            <a:endParaRPr sz="1600">
              <a:latin typeface="Times New Roman"/>
              <a:cs typeface="Times New Roman"/>
            </a:endParaRPr>
          </a:p>
          <a:p>
            <a:pPr marL="2197735">
              <a:lnSpc>
                <a:spcPts val="1800"/>
              </a:lnSpc>
            </a:pPr>
            <a:r>
              <a:rPr sz="1600" b="1" dirty="0">
                <a:latin typeface="Times New Roman"/>
                <a:cs typeface="Times New Roman"/>
              </a:rPr>
              <a:t>subsequent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visits.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4817" y="1721484"/>
            <a:ext cx="6535420" cy="4318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25" dirty="0">
                <a:latin typeface="Times New Roman"/>
                <a:cs typeface="Times New Roman"/>
              </a:rPr>
              <a:t>AIM</a:t>
            </a:r>
            <a:endParaRPr sz="1350">
              <a:latin typeface="Times New Roman"/>
              <a:cs typeface="Times New Roman"/>
            </a:endParaRPr>
          </a:p>
          <a:p>
            <a:pPr marL="12700" marR="5080">
              <a:lnSpc>
                <a:spcPts val="1400"/>
              </a:lnSpc>
              <a:spcBef>
                <a:spcPts val="1435"/>
              </a:spcBef>
            </a:pP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Java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Servlet-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stores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preferences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(such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theme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language)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cookies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retrieves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subsequent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visits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personalize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weather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webpage.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sz="1350" b="1" spc="-10" dirty="0">
                <a:latin typeface="Times New Roman"/>
                <a:cs typeface="Times New Roman"/>
              </a:rPr>
              <a:t>ALGORITHM</a:t>
            </a:r>
            <a:endParaRPr sz="1350">
              <a:latin typeface="Times New Roman"/>
              <a:cs typeface="Times New Roman"/>
            </a:endParaRPr>
          </a:p>
          <a:p>
            <a:pPr marL="469900" indent="-228600">
              <a:lnSpc>
                <a:spcPts val="1420"/>
              </a:lnSpc>
              <a:spcBef>
                <a:spcPts val="1355"/>
              </a:spcBef>
              <a:buFont typeface="Times New Roman"/>
              <a:buAutoNum type="arabicPeriod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Create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Dynamic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Web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Project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Eclipse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IDE.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420"/>
              </a:lnSpc>
              <a:buFont typeface="Times New Roman"/>
              <a:buAutoNum type="arabicPeriod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Add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Servlet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API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library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(Apache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Tomcat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server).</a:t>
            </a:r>
            <a:endParaRPr sz="1200">
              <a:latin typeface="Times New Roman"/>
              <a:cs typeface="Times New Roman"/>
            </a:endParaRPr>
          </a:p>
          <a:p>
            <a:pPr marL="469900" marR="2897505" indent="-228600">
              <a:lnSpc>
                <a:spcPct val="102400"/>
              </a:lnSpc>
              <a:spcBef>
                <a:spcPts val="25"/>
              </a:spcBef>
              <a:buFont typeface="Times New Roman"/>
              <a:buAutoNum type="arabicPeriod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Create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HTML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form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accept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preferences: </a:t>
            </a:r>
            <a:r>
              <a:rPr sz="1200" dirty="0">
                <a:latin typeface="Times New Roman"/>
                <a:cs typeface="Times New Roman"/>
              </a:rPr>
              <a:t>Theme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(Light/Dark)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5"/>
              </a:spcBef>
            </a:pPr>
            <a:r>
              <a:rPr sz="1200" spc="-10" dirty="0">
                <a:latin typeface="Times New Roman"/>
                <a:cs typeface="Times New Roman"/>
              </a:rPr>
              <a:t>Language (English/Tamil/etc.)</a:t>
            </a:r>
            <a:endParaRPr sz="1200">
              <a:latin typeface="Times New Roman"/>
              <a:cs typeface="Times New Roman"/>
            </a:endParaRPr>
          </a:p>
          <a:p>
            <a:pPr marL="469900" marR="3581400" indent="-228600">
              <a:lnSpc>
                <a:spcPts val="1500"/>
              </a:lnSpc>
              <a:spcBef>
                <a:spcPts val="35"/>
              </a:spcBef>
              <a:buFont typeface="Times New Roman"/>
              <a:buAutoNum type="arabicPeriod" startAt="4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Develop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Servlet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(PreferenceServlet)</a:t>
            </a:r>
            <a:r>
              <a:rPr sz="1200" spc="-10" dirty="0">
                <a:latin typeface="Times New Roman"/>
                <a:cs typeface="Times New Roman"/>
              </a:rPr>
              <a:t>: </a:t>
            </a:r>
            <a:r>
              <a:rPr sz="1200" dirty="0">
                <a:latin typeface="Times New Roman"/>
                <a:cs typeface="Times New Roman"/>
              </a:rPr>
              <a:t>Read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form.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Store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preferences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cookies.</a:t>
            </a:r>
            <a:endParaRPr sz="1200">
              <a:latin typeface="Times New Roman"/>
              <a:cs typeface="Times New Roman"/>
            </a:endParaRPr>
          </a:p>
          <a:p>
            <a:pPr marL="469900" marR="3362325" indent="-228600">
              <a:lnSpc>
                <a:spcPts val="1500"/>
              </a:lnSpc>
              <a:spcBef>
                <a:spcPts val="35"/>
              </a:spcBef>
              <a:buFont typeface="Times New Roman"/>
              <a:buAutoNum type="arabicPeriod" startAt="5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Develop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another</a:t>
            </a:r>
            <a:r>
              <a:rPr sz="1200" b="1" spc="-6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Servlet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(DisplayServlet)</a:t>
            </a:r>
            <a:r>
              <a:rPr sz="1200" spc="-10" dirty="0">
                <a:latin typeface="Times New Roman"/>
                <a:cs typeface="Times New Roman"/>
              </a:rPr>
              <a:t>: </a:t>
            </a:r>
            <a:r>
              <a:rPr sz="1200" dirty="0">
                <a:latin typeface="Times New Roman"/>
                <a:cs typeface="Times New Roman"/>
              </a:rPr>
              <a:t>Retrieve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cookies.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ts val="1415"/>
              </a:lnSpc>
            </a:pPr>
            <a:r>
              <a:rPr sz="1200" dirty="0">
                <a:latin typeface="Times New Roman"/>
                <a:cs typeface="Times New Roman"/>
              </a:rPr>
              <a:t>Display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saved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preferences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along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weather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info.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60"/>
              </a:spcBef>
              <a:buFont typeface="Times New Roman"/>
              <a:buAutoNum type="arabicPeriod" startAt="6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Configure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web.xml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(if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annotations).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35"/>
              </a:spcBef>
              <a:buFont typeface="Times New Roman"/>
              <a:buAutoNum type="arabicPeriod" startAt="6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Run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project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server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(Tomcat).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60"/>
              </a:spcBef>
              <a:buFont typeface="Times New Roman"/>
              <a:buAutoNum type="arabicPeriod" startAt="6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Test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browser</a:t>
            </a:r>
            <a:r>
              <a:rPr sz="1200" spc="-1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0"/>
              </a:spcBef>
            </a:pPr>
            <a:r>
              <a:rPr sz="1200" dirty="0">
                <a:latin typeface="Times New Roman"/>
                <a:cs typeface="Times New Roman"/>
              </a:rPr>
              <a:t>First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visit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→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preferences.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35"/>
              </a:spcBef>
            </a:pPr>
            <a:r>
              <a:rPr sz="1200" dirty="0">
                <a:latin typeface="Times New Roman"/>
                <a:cs typeface="Times New Roman"/>
              </a:rPr>
              <a:t>Next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visit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→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preferences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auto-loaded.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817" y="6898259"/>
            <a:ext cx="3911600" cy="3284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latin typeface="Times New Roman"/>
                <a:cs typeface="Times New Roman"/>
              </a:rPr>
              <a:t>SOURCE</a:t>
            </a:r>
            <a:r>
              <a:rPr sz="1350" b="1" spc="10" dirty="0">
                <a:latin typeface="Times New Roman"/>
                <a:cs typeface="Times New Roman"/>
              </a:rPr>
              <a:t> </a:t>
            </a:r>
            <a:r>
              <a:rPr sz="1350" b="1" spc="-20" dirty="0">
                <a:latin typeface="Times New Roman"/>
                <a:cs typeface="Times New Roman"/>
              </a:rPr>
              <a:t>CODE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1600" b="1" dirty="0">
                <a:latin typeface="Times New Roman"/>
                <a:cs typeface="Times New Roman"/>
              </a:rPr>
              <a:t>1.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HTML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Page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(index.html)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ts val="1165"/>
              </a:lnSpc>
              <a:spcBef>
                <a:spcPts val="1255"/>
              </a:spcBef>
            </a:pPr>
            <a:r>
              <a:rPr sz="1000" dirty="0">
                <a:latin typeface="Courier New"/>
                <a:cs typeface="Courier New"/>
              </a:rPr>
              <a:t>&lt;!DOCTYPE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html&gt;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25"/>
              </a:lnSpc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&lt;head&gt;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40"/>
              </a:lnSpc>
            </a:pPr>
            <a:r>
              <a:rPr sz="1000" dirty="0">
                <a:latin typeface="Courier New"/>
                <a:cs typeface="Courier New"/>
              </a:rPr>
              <a:t>&lt;title&gt;Weather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Preferences&lt;/title&gt;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25"/>
              </a:lnSpc>
            </a:pPr>
            <a:r>
              <a:rPr sz="1000" spc="-10" dirty="0">
                <a:latin typeface="Courier New"/>
                <a:cs typeface="Courier New"/>
              </a:rPr>
              <a:t>&lt;/head&gt;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40"/>
              </a:lnSpc>
            </a:pPr>
            <a:r>
              <a:rPr sz="1000" dirty="0">
                <a:latin typeface="Courier New"/>
                <a:cs typeface="Courier New"/>
              </a:rPr>
              <a:t>&lt;h2&gt;Select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Your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Preferences&lt;/h2&gt;</a:t>
            </a:r>
            <a:endParaRPr sz="1000">
              <a:latin typeface="Courier New"/>
              <a:cs typeface="Courier New"/>
            </a:endParaRPr>
          </a:p>
          <a:p>
            <a:pPr marL="622300" marR="5080" indent="-304800">
              <a:lnSpc>
                <a:spcPts val="1130"/>
              </a:lnSpc>
              <a:spcBef>
                <a:spcPts val="55"/>
              </a:spcBef>
            </a:pPr>
            <a:r>
              <a:rPr sz="1000" dirty="0">
                <a:latin typeface="Courier New"/>
                <a:cs typeface="Courier New"/>
              </a:rPr>
              <a:t>&lt;form</a:t>
            </a:r>
            <a:r>
              <a:rPr sz="1000" spc="-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action="PreferenceServlet"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method="post"&gt; Theme: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085"/>
              </a:lnSpc>
            </a:pPr>
            <a:r>
              <a:rPr sz="1000" dirty="0">
                <a:latin typeface="Courier New"/>
                <a:cs typeface="Courier New"/>
              </a:rPr>
              <a:t>&lt;select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name="theme"&gt;</a:t>
            </a:r>
            <a:endParaRPr sz="1000">
              <a:latin typeface="Courier New"/>
              <a:cs typeface="Courier New"/>
            </a:endParaRPr>
          </a:p>
          <a:p>
            <a:pPr marL="927100">
              <a:lnSpc>
                <a:spcPts val="1125"/>
              </a:lnSpc>
            </a:pPr>
            <a:r>
              <a:rPr sz="1000" dirty="0">
                <a:latin typeface="Courier New"/>
                <a:cs typeface="Courier New"/>
              </a:rPr>
              <a:t>&lt;option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value="Light"&gt;Light&lt;/option&gt;</a:t>
            </a:r>
            <a:endParaRPr sz="1000">
              <a:latin typeface="Courier New"/>
              <a:cs typeface="Courier New"/>
            </a:endParaRPr>
          </a:p>
          <a:p>
            <a:pPr marL="927100">
              <a:lnSpc>
                <a:spcPts val="1125"/>
              </a:lnSpc>
            </a:pPr>
            <a:r>
              <a:rPr sz="1000" dirty="0">
                <a:latin typeface="Courier New"/>
                <a:cs typeface="Courier New"/>
              </a:rPr>
              <a:t>&lt;option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value="Dark"&gt;Dark&lt;/option&gt;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&lt;/select&gt;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75"/>
              </a:lnSpc>
            </a:pPr>
            <a:r>
              <a:rPr sz="1000" spc="-10" dirty="0">
                <a:latin typeface="Courier New"/>
                <a:cs typeface="Courier New"/>
              </a:rPr>
              <a:t>&lt;br&gt;&lt;br&gt;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65"/>
              </a:lnSpc>
            </a:pPr>
            <a:r>
              <a:rPr sz="1000" spc="-10" dirty="0">
                <a:latin typeface="Courier New"/>
                <a:cs typeface="Courier New"/>
              </a:rPr>
              <a:t>Language: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65"/>
              </a:lnSpc>
            </a:pPr>
            <a:r>
              <a:rPr sz="1000" dirty="0">
                <a:latin typeface="Courier New"/>
                <a:cs typeface="Courier New"/>
              </a:rPr>
              <a:t>&lt;select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name="language"&gt;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817" y="422656"/>
            <a:ext cx="5543550" cy="9599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>
              <a:lnSpc>
                <a:spcPts val="1165"/>
              </a:lnSpc>
              <a:spcBef>
                <a:spcPts val="100"/>
              </a:spcBef>
            </a:pPr>
            <a:r>
              <a:rPr sz="1000" dirty="0">
                <a:latin typeface="Courier New"/>
                <a:cs typeface="Courier New"/>
              </a:rPr>
              <a:t>&lt;option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value="English"&gt;English&lt;/option&gt;</a:t>
            </a:r>
            <a:endParaRPr sz="1000">
              <a:latin typeface="Courier New"/>
              <a:cs typeface="Courier New"/>
            </a:endParaRPr>
          </a:p>
          <a:p>
            <a:pPr marL="927100">
              <a:lnSpc>
                <a:spcPts val="1140"/>
              </a:lnSpc>
            </a:pPr>
            <a:r>
              <a:rPr sz="1000" dirty="0">
                <a:latin typeface="Courier New"/>
                <a:cs typeface="Courier New"/>
              </a:rPr>
              <a:t>&lt;option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value="Tamil"&gt;Tamil&lt;/option&gt;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&lt;/select&gt;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65"/>
              </a:lnSpc>
            </a:pPr>
            <a:r>
              <a:rPr sz="1000" spc="-10" dirty="0">
                <a:latin typeface="Courier New"/>
                <a:cs typeface="Courier New"/>
              </a:rPr>
              <a:t>&lt;br&gt;&lt;br&gt;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65"/>
              </a:lnSpc>
            </a:pPr>
            <a:r>
              <a:rPr sz="1000" dirty="0">
                <a:latin typeface="Courier New"/>
                <a:cs typeface="Courier New"/>
              </a:rPr>
              <a:t>&lt;input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type="submit"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value="Save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Preferences"&gt;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65"/>
              </a:lnSpc>
            </a:pPr>
            <a:r>
              <a:rPr sz="1000" spc="-10" dirty="0">
                <a:latin typeface="Courier New"/>
                <a:cs typeface="Courier New"/>
              </a:rPr>
              <a:t>&lt;/form&gt;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75"/>
              </a:lnSpc>
            </a:pPr>
            <a:r>
              <a:rPr sz="1000" spc="-20" dirty="0">
                <a:latin typeface="Courier New"/>
                <a:cs typeface="Courier New"/>
              </a:rPr>
              <a:t>&lt;br&gt;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40"/>
              </a:lnSpc>
            </a:pPr>
            <a:r>
              <a:rPr sz="1000" dirty="0">
                <a:latin typeface="Courier New"/>
                <a:cs typeface="Courier New"/>
              </a:rPr>
              <a:t>&lt;a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href="DisplayServlet"&gt;View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Weather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Page&lt;/a&gt;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25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5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000">
              <a:latin typeface="Courier New"/>
              <a:cs typeface="Courier New"/>
            </a:endParaRPr>
          </a:p>
          <a:p>
            <a:pPr marL="215900" indent="-203200">
              <a:lnSpc>
                <a:spcPct val="100000"/>
              </a:lnSpc>
              <a:buAutoNum type="arabicPeriod" startAt="2"/>
              <a:tabLst>
                <a:tab pos="215900" algn="l"/>
              </a:tabLst>
            </a:pPr>
            <a:r>
              <a:rPr sz="1600" b="1" spc="-10" dirty="0">
                <a:latin typeface="Times New Roman"/>
                <a:cs typeface="Times New Roman"/>
              </a:rPr>
              <a:t>PreferenceServlet.java</a:t>
            </a:r>
            <a:endParaRPr sz="1600">
              <a:latin typeface="Times New Roman"/>
              <a:cs typeface="Times New Roman"/>
            </a:endParaRPr>
          </a:p>
          <a:p>
            <a:pPr marL="12700" marR="339725">
              <a:lnSpc>
                <a:spcPct val="193800"/>
              </a:lnSpc>
              <a:spcBef>
                <a:spcPts val="110"/>
              </a:spcBef>
            </a:pPr>
            <a:r>
              <a:rPr sz="1000" dirty="0">
                <a:latin typeface="Courier New"/>
                <a:cs typeface="Courier New"/>
              </a:rPr>
              <a:t>import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java.io.</a:t>
            </a:r>
            <a:r>
              <a:rPr sz="1000" i="1" dirty="0">
                <a:latin typeface="Courier New"/>
                <a:cs typeface="Courier New"/>
              </a:rPr>
              <a:t>;</a:t>
            </a:r>
            <a:r>
              <a:rPr sz="1000" i="1" spc="-40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import</a:t>
            </a:r>
            <a:r>
              <a:rPr sz="1000" i="1" spc="-40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javax.servlet.</a:t>
            </a:r>
            <a:r>
              <a:rPr sz="1000" dirty="0">
                <a:latin typeface="Courier New"/>
                <a:cs typeface="Courier New"/>
              </a:rPr>
              <a:t>;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import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javax.servlet.http.*; </a:t>
            </a:r>
            <a:r>
              <a:rPr sz="1000" dirty="0">
                <a:latin typeface="Courier New"/>
                <a:cs typeface="Courier New"/>
              </a:rPr>
              <a:t>public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class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PreferenceServlet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extends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HttpServlet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000">
              <a:latin typeface="Courier New"/>
              <a:cs typeface="Courier New"/>
            </a:endParaRPr>
          </a:p>
          <a:p>
            <a:pPr marL="571500" marR="5080" indent="-558800">
              <a:lnSpc>
                <a:spcPts val="1150"/>
              </a:lnSpc>
            </a:pPr>
            <a:r>
              <a:rPr sz="1000" dirty="0">
                <a:latin typeface="Consolas"/>
                <a:cs typeface="Consolas"/>
              </a:rPr>
              <a:t>protected</a:t>
            </a:r>
            <a:r>
              <a:rPr sz="1000" spc="-7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void</a:t>
            </a:r>
            <a:r>
              <a:rPr sz="1000" spc="-7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doPost(HttpServletRequest</a:t>
            </a:r>
            <a:r>
              <a:rPr sz="1000" spc="-7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request,</a:t>
            </a:r>
            <a:r>
              <a:rPr sz="1000" spc="-7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HttpServletResponse</a:t>
            </a:r>
            <a:r>
              <a:rPr sz="1000" spc="-7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response) </a:t>
            </a:r>
            <a:r>
              <a:rPr sz="1000" dirty="0">
                <a:latin typeface="Consolas"/>
                <a:cs typeface="Consolas"/>
              </a:rPr>
              <a:t>throws</a:t>
            </a:r>
            <a:r>
              <a:rPr sz="1000" spc="-6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ServletException,</a:t>
            </a:r>
            <a:r>
              <a:rPr sz="1000" spc="-6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IOException</a:t>
            </a:r>
            <a:r>
              <a:rPr sz="1000" spc="-65" dirty="0">
                <a:latin typeface="Consolas"/>
                <a:cs typeface="Consolas"/>
              </a:rPr>
              <a:t> </a:t>
            </a:r>
            <a:r>
              <a:rPr sz="1000" spc="-50" dirty="0">
                <a:latin typeface="Consolas"/>
                <a:cs typeface="Consolas"/>
              </a:rPr>
              <a:t>{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000">
              <a:latin typeface="Consolas"/>
              <a:cs typeface="Consolas"/>
            </a:endParaRPr>
          </a:p>
          <a:p>
            <a:pPr marL="292100" marR="1681480">
              <a:lnSpc>
                <a:spcPts val="1180"/>
              </a:lnSpc>
            </a:pPr>
            <a:r>
              <a:rPr sz="1000" dirty="0">
                <a:latin typeface="Consolas"/>
                <a:cs typeface="Consolas"/>
              </a:rPr>
              <a:t>String</a:t>
            </a:r>
            <a:r>
              <a:rPr sz="1000" spc="-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theme</a:t>
            </a:r>
            <a:r>
              <a:rPr sz="1000" spc="-2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=</a:t>
            </a:r>
            <a:r>
              <a:rPr sz="1000" spc="-2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request.getParameter("theme");</a:t>
            </a:r>
            <a:r>
              <a:rPr sz="1000" spc="50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String</a:t>
            </a:r>
            <a:r>
              <a:rPr sz="1000" spc="-3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language</a:t>
            </a:r>
            <a:r>
              <a:rPr sz="1000" spc="-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=</a:t>
            </a:r>
            <a:r>
              <a:rPr sz="1000" spc="-3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request.getParameter("language");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000">
              <a:latin typeface="Consolas"/>
              <a:cs typeface="Consolas"/>
            </a:endParaRPr>
          </a:p>
          <a:p>
            <a:pPr marL="292100">
              <a:lnSpc>
                <a:spcPts val="1190"/>
              </a:lnSpc>
            </a:pPr>
            <a:r>
              <a:rPr sz="1000" dirty="0">
                <a:latin typeface="Consolas"/>
                <a:cs typeface="Consolas"/>
              </a:rPr>
              <a:t>//</a:t>
            </a:r>
            <a:r>
              <a:rPr sz="1000" spc="-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Create</a:t>
            </a:r>
            <a:r>
              <a:rPr sz="1000" spc="-2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cookies</a:t>
            </a:r>
            <a:endParaRPr sz="1000">
              <a:latin typeface="Consolas"/>
              <a:cs typeface="Consolas"/>
            </a:endParaRPr>
          </a:p>
          <a:p>
            <a:pPr marL="292100">
              <a:lnSpc>
                <a:spcPts val="1175"/>
              </a:lnSpc>
            </a:pPr>
            <a:r>
              <a:rPr sz="1000" dirty="0">
                <a:latin typeface="Consolas"/>
                <a:cs typeface="Consolas"/>
              </a:rPr>
              <a:t>Cookie</a:t>
            </a:r>
            <a:r>
              <a:rPr sz="1000" spc="-4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themeCookie</a:t>
            </a:r>
            <a:r>
              <a:rPr sz="1000" spc="-4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=</a:t>
            </a:r>
            <a:r>
              <a:rPr sz="1000" spc="-4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new</a:t>
            </a:r>
            <a:r>
              <a:rPr sz="1000" spc="-4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Cookie("theme",</a:t>
            </a:r>
            <a:r>
              <a:rPr sz="1000" spc="-4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theme);</a:t>
            </a:r>
            <a:endParaRPr sz="1000">
              <a:latin typeface="Consolas"/>
              <a:cs typeface="Consolas"/>
            </a:endParaRPr>
          </a:p>
          <a:p>
            <a:pPr marL="292100">
              <a:lnSpc>
                <a:spcPts val="1190"/>
              </a:lnSpc>
            </a:pPr>
            <a:r>
              <a:rPr sz="1000" dirty="0">
                <a:latin typeface="Consolas"/>
                <a:cs typeface="Consolas"/>
              </a:rPr>
              <a:t>Cookie</a:t>
            </a:r>
            <a:r>
              <a:rPr sz="1000" spc="-5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languageCookie</a:t>
            </a:r>
            <a:r>
              <a:rPr sz="1000" spc="-4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=</a:t>
            </a:r>
            <a:r>
              <a:rPr sz="1000" spc="-4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new</a:t>
            </a:r>
            <a:r>
              <a:rPr sz="1000" spc="-4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Cookie("language",</a:t>
            </a:r>
            <a:r>
              <a:rPr sz="1000" spc="-5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language);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000">
              <a:latin typeface="Consolas"/>
              <a:cs typeface="Consolas"/>
            </a:endParaRPr>
          </a:p>
          <a:p>
            <a:pPr marL="292100" marR="2729230">
              <a:lnSpc>
                <a:spcPts val="1150"/>
              </a:lnSpc>
              <a:spcBef>
                <a:spcPts val="5"/>
              </a:spcBef>
            </a:pPr>
            <a:r>
              <a:rPr sz="1000" dirty="0">
                <a:latin typeface="Consolas"/>
                <a:cs typeface="Consolas"/>
              </a:rPr>
              <a:t>//</a:t>
            </a:r>
            <a:r>
              <a:rPr sz="1000" spc="-2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Set</a:t>
            </a:r>
            <a:r>
              <a:rPr sz="1000" spc="-2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expiry</a:t>
            </a:r>
            <a:r>
              <a:rPr sz="1000" spc="-2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time</a:t>
            </a:r>
            <a:r>
              <a:rPr sz="1000" spc="-1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(1</a:t>
            </a:r>
            <a:r>
              <a:rPr sz="1000" spc="-20" dirty="0">
                <a:latin typeface="Consolas"/>
                <a:cs typeface="Consolas"/>
              </a:rPr>
              <a:t> day) </a:t>
            </a:r>
            <a:r>
              <a:rPr sz="1000" dirty="0">
                <a:latin typeface="Consolas"/>
                <a:cs typeface="Consolas"/>
              </a:rPr>
              <a:t>themeCookie.setMaxAge(24</a:t>
            </a:r>
            <a:r>
              <a:rPr sz="1000" spc="-4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*</a:t>
            </a:r>
            <a:r>
              <a:rPr sz="1000" spc="-4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60</a:t>
            </a:r>
            <a:r>
              <a:rPr sz="1000" spc="-4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*</a:t>
            </a:r>
            <a:r>
              <a:rPr sz="1000" spc="-35" dirty="0">
                <a:latin typeface="Consolas"/>
                <a:cs typeface="Consolas"/>
              </a:rPr>
              <a:t> </a:t>
            </a:r>
            <a:r>
              <a:rPr sz="1000" spc="-20" dirty="0">
                <a:latin typeface="Consolas"/>
                <a:cs typeface="Consolas"/>
              </a:rPr>
              <a:t>60);</a:t>
            </a:r>
            <a:endParaRPr sz="1000">
              <a:latin typeface="Consolas"/>
              <a:cs typeface="Consolas"/>
            </a:endParaRPr>
          </a:p>
          <a:p>
            <a:pPr marL="292100">
              <a:lnSpc>
                <a:spcPts val="1145"/>
              </a:lnSpc>
            </a:pPr>
            <a:r>
              <a:rPr sz="1000" spc="-10" dirty="0">
                <a:latin typeface="Consolas"/>
                <a:cs typeface="Consolas"/>
              </a:rPr>
              <a:t>languageCookie.setMaxAge(24</a:t>
            </a:r>
            <a:r>
              <a:rPr sz="1000" spc="2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*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60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*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spc="-20" dirty="0">
                <a:latin typeface="Consolas"/>
                <a:cs typeface="Consolas"/>
              </a:rPr>
              <a:t>60);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000">
              <a:latin typeface="Consolas"/>
              <a:cs typeface="Consolas"/>
            </a:endParaRPr>
          </a:p>
          <a:p>
            <a:pPr marL="292100" marR="2799080">
              <a:lnSpc>
                <a:spcPct val="97000"/>
              </a:lnSpc>
              <a:spcBef>
                <a:spcPts val="5"/>
              </a:spcBef>
            </a:pPr>
            <a:r>
              <a:rPr sz="1000" dirty="0">
                <a:latin typeface="Consolas"/>
                <a:cs typeface="Consolas"/>
              </a:rPr>
              <a:t>//</a:t>
            </a:r>
            <a:r>
              <a:rPr sz="1000" spc="-2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Add</a:t>
            </a:r>
            <a:r>
              <a:rPr sz="1000" spc="-2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cookies</a:t>
            </a:r>
            <a:r>
              <a:rPr sz="1000" spc="-2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to</a:t>
            </a:r>
            <a:r>
              <a:rPr sz="1000" spc="-1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response response.addCookie(themeCookie); response.addCookie(languageCookie);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000">
              <a:latin typeface="Consolas"/>
              <a:cs typeface="Consolas"/>
            </a:endParaRPr>
          </a:p>
          <a:p>
            <a:pPr marL="292100" marR="1332230">
              <a:lnSpc>
                <a:spcPts val="1180"/>
              </a:lnSpc>
              <a:spcBef>
                <a:spcPts val="5"/>
              </a:spcBef>
            </a:pPr>
            <a:r>
              <a:rPr sz="1000" dirty="0">
                <a:latin typeface="Consolas"/>
                <a:cs typeface="Consolas"/>
              </a:rPr>
              <a:t>PrintWriter</a:t>
            </a:r>
            <a:r>
              <a:rPr sz="1000" spc="-3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out</a:t>
            </a:r>
            <a:r>
              <a:rPr sz="1000" spc="-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=</a:t>
            </a:r>
            <a:r>
              <a:rPr sz="1000" spc="-3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response.getWriter(); out.println("&lt;html&gt;&lt;body&gt;");</a:t>
            </a:r>
            <a:r>
              <a:rPr sz="1000" spc="50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out.println("&lt;h3&gt;Preferences</a:t>
            </a:r>
            <a:r>
              <a:rPr sz="1000" spc="4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Saved</a:t>
            </a:r>
            <a:r>
              <a:rPr sz="1000" spc="5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Successfully!&lt;/h3&gt;");</a:t>
            </a:r>
            <a:endParaRPr sz="1000">
              <a:latin typeface="Consolas"/>
              <a:cs typeface="Consolas"/>
            </a:endParaRPr>
          </a:p>
          <a:p>
            <a:pPr marL="292100" marR="843280">
              <a:lnSpc>
                <a:spcPts val="1150"/>
              </a:lnSpc>
              <a:spcBef>
                <a:spcPts val="5"/>
              </a:spcBef>
            </a:pPr>
            <a:r>
              <a:rPr sz="1000" dirty="0">
                <a:latin typeface="Consolas"/>
                <a:cs typeface="Consolas"/>
              </a:rPr>
              <a:t>out.println("&lt;a</a:t>
            </a:r>
            <a:r>
              <a:rPr sz="1000" spc="-7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href='DisplayServlet'&gt;Go</a:t>
            </a:r>
            <a:r>
              <a:rPr sz="1000" spc="-6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to</a:t>
            </a:r>
            <a:r>
              <a:rPr sz="1000" spc="-6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Weather</a:t>
            </a:r>
            <a:r>
              <a:rPr sz="1000" spc="-6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Page&lt;/a&gt;"); out.println("&lt;/body&gt;&lt;/html&gt;");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ts val="1145"/>
              </a:lnSpc>
            </a:pPr>
            <a:r>
              <a:rPr sz="1000" spc="-50" dirty="0">
                <a:latin typeface="Consolas"/>
                <a:cs typeface="Consolas"/>
              </a:rPr>
              <a:t>}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000">
              <a:latin typeface="Courier New"/>
              <a:cs typeface="Courier New"/>
            </a:endParaRPr>
          </a:p>
          <a:p>
            <a:pPr marL="215900" indent="-203200">
              <a:lnSpc>
                <a:spcPct val="100000"/>
              </a:lnSpc>
              <a:buAutoNum type="arabicPeriod" startAt="3"/>
              <a:tabLst>
                <a:tab pos="215900" algn="l"/>
              </a:tabLst>
            </a:pPr>
            <a:r>
              <a:rPr sz="1600" b="1" spc="-10" dirty="0">
                <a:latin typeface="Times New Roman"/>
                <a:cs typeface="Times New Roman"/>
              </a:rPr>
              <a:t>DisplayServlet.java</a:t>
            </a:r>
            <a:endParaRPr sz="1600">
              <a:latin typeface="Times New Roman"/>
              <a:cs typeface="Times New Roman"/>
            </a:endParaRPr>
          </a:p>
          <a:p>
            <a:pPr marL="12700" marR="4150995">
              <a:lnSpc>
                <a:spcPts val="1400"/>
              </a:lnSpc>
              <a:spcBef>
                <a:spcPts val="1415"/>
              </a:spcBef>
            </a:pP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java.io.*; </a:t>
            </a: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javax.servlet.*;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35"/>
              </a:lnSpc>
            </a:pP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javax.servlet.http.*;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200" dirty="0">
                <a:latin typeface="Times New Roman"/>
                <a:cs typeface="Times New Roman"/>
              </a:rPr>
              <a:t>public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DisplayServlet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extends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HttpServlet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469900" marR="379095" indent="-30480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protected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void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doGet(HttpServletRequest</a:t>
            </a:r>
            <a:r>
              <a:rPr sz="1200" dirty="0">
                <a:latin typeface="Times New Roman"/>
                <a:cs typeface="Times New Roman"/>
              </a:rPr>
              <a:t> request,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HttpServletResponse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response) </a:t>
            </a:r>
            <a:r>
              <a:rPr sz="1200" dirty="0">
                <a:latin typeface="Times New Roman"/>
                <a:cs typeface="Times New Roman"/>
              </a:rPr>
              <a:t>throws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ServletException,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IOException </a:t>
            </a:r>
            <a:r>
              <a:rPr sz="1200" spc="-50" dirty="0"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spcBef>
                <a:spcPts val="1245"/>
              </a:spcBef>
            </a:pPr>
            <a:r>
              <a:rPr sz="1200" dirty="0">
                <a:latin typeface="Times New Roman"/>
                <a:cs typeface="Times New Roman"/>
              </a:rPr>
              <a:t>Cookie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cookies[]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request.getCookies();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817" y="435356"/>
            <a:ext cx="4605020" cy="951357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17500" marR="2529840">
              <a:lnSpc>
                <a:spcPts val="1380"/>
              </a:lnSpc>
              <a:spcBef>
                <a:spcPts val="195"/>
              </a:spcBef>
            </a:pPr>
            <a:r>
              <a:rPr sz="1200" dirty="0">
                <a:latin typeface="Times New Roman"/>
                <a:cs typeface="Times New Roman"/>
              </a:rPr>
              <a:t>String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theme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"Not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Set"; </a:t>
            </a:r>
            <a:r>
              <a:rPr sz="1200" dirty="0">
                <a:latin typeface="Times New Roman"/>
                <a:cs typeface="Times New Roman"/>
              </a:rPr>
              <a:t>String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language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"Not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Set";</a:t>
            </a:r>
            <a:endParaRPr sz="1200">
              <a:latin typeface="Times New Roman"/>
              <a:cs typeface="Times New Roman"/>
            </a:endParaRPr>
          </a:p>
          <a:p>
            <a:pPr marL="317500">
              <a:lnSpc>
                <a:spcPts val="1410"/>
              </a:lnSpc>
              <a:spcBef>
                <a:spcPts val="1245"/>
              </a:spcBef>
            </a:pP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(cookies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!=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null)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ts val="1375"/>
              </a:lnSpc>
            </a:pP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(Cookie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cookies)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  <a:p>
            <a:pPr marL="774700" marR="1851660" indent="-153035">
              <a:lnSpc>
                <a:spcPts val="1400"/>
              </a:lnSpc>
              <a:spcBef>
                <a:spcPts val="45"/>
              </a:spcBef>
            </a:pP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(c.getName().equals("theme"))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{ </a:t>
            </a:r>
            <a:r>
              <a:rPr sz="1200" dirty="0">
                <a:latin typeface="Times New Roman"/>
                <a:cs typeface="Times New Roman"/>
              </a:rPr>
              <a:t>theme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c.getValue();</a:t>
            </a:r>
            <a:endParaRPr sz="1200">
              <a:latin typeface="Times New Roman"/>
              <a:cs typeface="Times New Roman"/>
            </a:endParaRPr>
          </a:p>
          <a:p>
            <a:pPr marL="622300">
              <a:lnSpc>
                <a:spcPts val="1305"/>
              </a:lnSpc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774700" marR="1673860" indent="-153035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(c.getName().equals("language"))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{ </a:t>
            </a:r>
            <a:r>
              <a:rPr sz="1200" spc="-10" dirty="0">
                <a:latin typeface="Times New Roman"/>
                <a:cs typeface="Times New Roman"/>
              </a:rPr>
              <a:t>language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c.getValue();</a:t>
            </a:r>
            <a:endParaRPr sz="1200">
              <a:latin typeface="Times New Roman"/>
              <a:cs typeface="Times New Roman"/>
            </a:endParaRPr>
          </a:p>
          <a:p>
            <a:pPr marL="622300">
              <a:lnSpc>
                <a:spcPts val="1315"/>
              </a:lnSpc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ts val="1390"/>
              </a:lnSpc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317500">
              <a:lnSpc>
                <a:spcPts val="1410"/>
              </a:lnSpc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317500" marR="1894839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PrintWriter</a:t>
            </a:r>
            <a:r>
              <a:rPr sz="1200" dirty="0">
                <a:latin typeface="Times New Roman"/>
                <a:cs typeface="Times New Roman"/>
              </a:rPr>
              <a:t> out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response.getWriter(); out.println("&lt;html&gt;&lt;body&gt;");</a:t>
            </a:r>
            <a:endParaRPr sz="1200">
              <a:latin typeface="Times New Roman"/>
              <a:cs typeface="Times New Roman"/>
            </a:endParaRPr>
          </a:p>
          <a:p>
            <a:pPr marL="317500">
              <a:lnSpc>
                <a:spcPts val="1410"/>
              </a:lnSpc>
              <a:spcBef>
                <a:spcPts val="1245"/>
              </a:spcBef>
            </a:pPr>
            <a:r>
              <a:rPr sz="1200" dirty="0">
                <a:latin typeface="Times New Roman"/>
                <a:cs typeface="Times New Roman"/>
              </a:rPr>
              <a:t>//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theme</a:t>
            </a:r>
            <a:endParaRPr sz="1200">
              <a:latin typeface="Times New Roman"/>
              <a:cs typeface="Times New Roman"/>
            </a:endParaRPr>
          </a:p>
          <a:p>
            <a:pPr marL="317500">
              <a:lnSpc>
                <a:spcPts val="1375"/>
              </a:lnSpc>
            </a:pP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(theme.equals("Dark"))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60" dirty="0"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ts val="1375"/>
              </a:lnSpc>
            </a:pPr>
            <a:r>
              <a:rPr sz="1200" spc="-10" dirty="0">
                <a:latin typeface="Times New Roman"/>
                <a:cs typeface="Times New Roman"/>
              </a:rPr>
              <a:t>out.println("&lt;body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style='background-</a:t>
            </a:r>
            <a:r>
              <a:rPr sz="1200" dirty="0">
                <a:latin typeface="Times New Roman"/>
                <a:cs typeface="Times New Roman"/>
              </a:rPr>
              <a:t>color:black;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color:white;'&gt;");</a:t>
            </a:r>
            <a:endParaRPr sz="1200">
              <a:latin typeface="Times New Roman"/>
              <a:cs typeface="Times New Roman"/>
            </a:endParaRPr>
          </a:p>
          <a:p>
            <a:pPr marL="317500">
              <a:lnSpc>
                <a:spcPts val="1405"/>
              </a:lnSpc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317500" marR="615950">
              <a:lnSpc>
                <a:spcPct val="96400"/>
              </a:lnSpc>
              <a:spcBef>
                <a:spcPts val="1335"/>
              </a:spcBef>
            </a:pPr>
            <a:r>
              <a:rPr sz="1200" spc="-10" dirty="0">
                <a:latin typeface="Times New Roman"/>
                <a:cs typeface="Times New Roman"/>
              </a:rPr>
              <a:t>out.println("&lt;h2&gt;Weather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Information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Page&lt;/h2&gt;"); out.println("&lt;p&gt;&lt;b&gt;Theme:&lt;/b&gt;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+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theme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+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"&lt;/p&gt;"); out.println("&lt;p&gt;&lt;b&gt;Language:&lt;/b&gt;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+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language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+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"&lt;/p&gt;");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Times New Roman"/>
              <a:cs typeface="Times New Roman"/>
            </a:endParaRPr>
          </a:p>
          <a:p>
            <a:pPr marL="317500" marR="1653539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//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Dummy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weather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info </a:t>
            </a:r>
            <a:r>
              <a:rPr sz="1200" spc="-10" dirty="0">
                <a:latin typeface="Times New Roman"/>
                <a:cs typeface="Times New Roman"/>
              </a:rPr>
              <a:t>out.println("&lt;h3&gt;Today's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Weather&lt;/h3&gt;"); out.println("&lt;p&gt;Temperature: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32°C&lt;/p&gt;"); out.println("&lt;p&gt;Condition: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Sunny&lt;/p&gt;");</a:t>
            </a:r>
            <a:endParaRPr sz="1200">
              <a:latin typeface="Times New Roman"/>
              <a:cs typeface="Times New Roman"/>
            </a:endParaRPr>
          </a:p>
          <a:p>
            <a:pPr marL="317500" marR="259715">
              <a:lnSpc>
                <a:spcPts val="1380"/>
              </a:lnSpc>
              <a:spcBef>
                <a:spcPts val="1335"/>
              </a:spcBef>
            </a:pPr>
            <a:r>
              <a:rPr sz="1200" spc="-10" dirty="0">
                <a:latin typeface="Times New Roman"/>
                <a:cs typeface="Times New Roman"/>
              </a:rPr>
              <a:t>out.println("&lt;br&gt;&lt;a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href='index.html'&gt;Change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Preferences&lt;/a&gt;"); out.println("&lt;/body&gt;&lt;/html&gt;");</a:t>
            </a:r>
            <a:endParaRPr sz="1200">
              <a:latin typeface="Times New Roman"/>
              <a:cs typeface="Times New Roman"/>
            </a:endParaRPr>
          </a:p>
          <a:p>
            <a:pPr marL="165100">
              <a:lnSpc>
                <a:spcPts val="1325"/>
              </a:lnSpc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05"/>
              </a:lnSpc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600" b="1" dirty="0">
                <a:latin typeface="Times New Roman"/>
                <a:cs typeface="Times New Roman"/>
              </a:rPr>
              <a:t>4. </a:t>
            </a:r>
            <a:r>
              <a:rPr sz="1600" b="1" spc="-10" dirty="0">
                <a:latin typeface="Times New Roman"/>
                <a:cs typeface="Times New Roman"/>
              </a:rPr>
              <a:t>web.xml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1200" spc="-10" dirty="0">
                <a:latin typeface="Times New Roman"/>
                <a:cs typeface="Times New Roman"/>
              </a:rPr>
              <a:t>&lt;web-</a:t>
            </a:r>
            <a:r>
              <a:rPr sz="1200" spc="-20" dirty="0">
                <a:latin typeface="Times New Roman"/>
                <a:cs typeface="Times New Roman"/>
              </a:rPr>
              <a:t>app&gt;</a:t>
            </a:r>
            <a:endParaRPr sz="1200">
              <a:latin typeface="Times New Roman"/>
              <a:cs typeface="Times New Roman"/>
            </a:endParaRPr>
          </a:p>
          <a:p>
            <a:pPr marL="165100">
              <a:lnSpc>
                <a:spcPts val="1405"/>
              </a:lnSpc>
              <a:spcBef>
                <a:spcPts val="1285"/>
              </a:spcBef>
            </a:pPr>
            <a:r>
              <a:rPr sz="1200" spc="-10" dirty="0">
                <a:latin typeface="Times New Roman"/>
                <a:cs typeface="Times New Roman"/>
              </a:rPr>
              <a:t>&lt;servlet&gt;</a:t>
            </a:r>
            <a:endParaRPr sz="1200">
              <a:latin typeface="Times New Roman"/>
              <a:cs typeface="Times New Roman"/>
            </a:endParaRPr>
          </a:p>
          <a:p>
            <a:pPr marL="317500">
              <a:lnSpc>
                <a:spcPts val="1375"/>
              </a:lnSpc>
            </a:pPr>
            <a:r>
              <a:rPr sz="1200" spc="-10" dirty="0">
                <a:latin typeface="Times New Roman"/>
                <a:cs typeface="Times New Roman"/>
              </a:rPr>
              <a:t>&lt;servlet-name&gt;PreferenceServlet&lt;/servlet-</a:t>
            </a:r>
            <a:r>
              <a:rPr sz="1200" spc="-20" dirty="0">
                <a:latin typeface="Times New Roman"/>
                <a:cs typeface="Times New Roman"/>
              </a:rPr>
              <a:t>name&gt;</a:t>
            </a:r>
            <a:endParaRPr sz="1200">
              <a:latin typeface="Times New Roman"/>
              <a:cs typeface="Times New Roman"/>
            </a:endParaRPr>
          </a:p>
          <a:p>
            <a:pPr marL="317500">
              <a:lnSpc>
                <a:spcPts val="1375"/>
              </a:lnSpc>
            </a:pPr>
            <a:r>
              <a:rPr sz="1200" spc="-10" dirty="0">
                <a:latin typeface="Times New Roman"/>
                <a:cs typeface="Times New Roman"/>
              </a:rPr>
              <a:t>&lt;servlet-class&gt;PreferenceServlet&lt;/servlet-class&gt;</a:t>
            </a:r>
            <a:endParaRPr sz="1200">
              <a:latin typeface="Times New Roman"/>
              <a:cs typeface="Times New Roman"/>
            </a:endParaRPr>
          </a:p>
          <a:p>
            <a:pPr marL="165100">
              <a:lnSpc>
                <a:spcPts val="1410"/>
              </a:lnSpc>
            </a:pPr>
            <a:r>
              <a:rPr sz="1200" spc="-10" dirty="0">
                <a:latin typeface="Times New Roman"/>
                <a:cs typeface="Times New Roman"/>
              </a:rPr>
              <a:t>&lt;/servlet&gt;</a:t>
            </a:r>
            <a:endParaRPr sz="1200">
              <a:latin typeface="Times New Roman"/>
              <a:cs typeface="Times New Roman"/>
            </a:endParaRPr>
          </a:p>
          <a:p>
            <a:pPr marL="165100">
              <a:lnSpc>
                <a:spcPts val="1420"/>
              </a:lnSpc>
              <a:spcBef>
                <a:spcPts val="1285"/>
              </a:spcBef>
            </a:pPr>
            <a:r>
              <a:rPr sz="1200" spc="-10" dirty="0">
                <a:latin typeface="Times New Roman"/>
                <a:cs typeface="Times New Roman"/>
              </a:rPr>
              <a:t>&lt;servlet-mapping&gt;</a:t>
            </a:r>
            <a:endParaRPr sz="1200">
              <a:latin typeface="Times New Roman"/>
              <a:cs typeface="Times New Roman"/>
            </a:endParaRPr>
          </a:p>
          <a:p>
            <a:pPr marL="317500">
              <a:lnSpc>
                <a:spcPts val="1390"/>
              </a:lnSpc>
            </a:pPr>
            <a:r>
              <a:rPr sz="1200" spc="-10" dirty="0">
                <a:latin typeface="Times New Roman"/>
                <a:cs typeface="Times New Roman"/>
              </a:rPr>
              <a:t>&lt;servlet-name&gt;PreferenceServlet&lt;/servlet-</a:t>
            </a:r>
            <a:r>
              <a:rPr sz="1200" spc="-20" dirty="0">
                <a:latin typeface="Times New Roman"/>
                <a:cs typeface="Times New Roman"/>
              </a:rPr>
              <a:t>name&gt;</a:t>
            </a:r>
            <a:endParaRPr sz="1200">
              <a:latin typeface="Times New Roman"/>
              <a:cs typeface="Times New Roman"/>
            </a:endParaRPr>
          </a:p>
          <a:p>
            <a:pPr marL="317500">
              <a:lnSpc>
                <a:spcPts val="1375"/>
              </a:lnSpc>
            </a:pPr>
            <a:r>
              <a:rPr sz="1200" spc="-10" dirty="0">
                <a:latin typeface="Times New Roman"/>
                <a:cs typeface="Times New Roman"/>
              </a:rPr>
              <a:t>&lt;url-pattern&gt;/PreferenceServlet&lt;/url-pattern&gt;</a:t>
            </a:r>
            <a:endParaRPr sz="1200">
              <a:latin typeface="Times New Roman"/>
              <a:cs typeface="Times New Roman"/>
            </a:endParaRPr>
          </a:p>
          <a:p>
            <a:pPr marL="165100">
              <a:lnSpc>
                <a:spcPts val="1410"/>
              </a:lnSpc>
            </a:pPr>
            <a:r>
              <a:rPr sz="1200" spc="-10" dirty="0">
                <a:latin typeface="Times New Roman"/>
                <a:cs typeface="Times New Roman"/>
              </a:rPr>
              <a:t>&lt;/servlet-mapping&gt;</a:t>
            </a:r>
            <a:endParaRPr sz="1200">
              <a:latin typeface="Times New Roman"/>
              <a:cs typeface="Times New Roman"/>
            </a:endParaRPr>
          </a:p>
          <a:p>
            <a:pPr marL="165100">
              <a:lnSpc>
                <a:spcPts val="1405"/>
              </a:lnSpc>
              <a:spcBef>
                <a:spcPts val="1290"/>
              </a:spcBef>
            </a:pPr>
            <a:r>
              <a:rPr sz="1200" spc="-10" dirty="0">
                <a:latin typeface="Times New Roman"/>
                <a:cs typeface="Times New Roman"/>
              </a:rPr>
              <a:t>&lt;servlet&gt;</a:t>
            </a:r>
            <a:endParaRPr sz="1200">
              <a:latin typeface="Times New Roman"/>
              <a:cs typeface="Times New Roman"/>
            </a:endParaRPr>
          </a:p>
          <a:p>
            <a:pPr marL="317500">
              <a:lnSpc>
                <a:spcPts val="1375"/>
              </a:lnSpc>
            </a:pPr>
            <a:r>
              <a:rPr sz="1200" spc="-10" dirty="0">
                <a:latin typeface="Times New Roman"/>
                <a:cs typeface="Times New Roman"/>
              </a:rPr>
              <a:t>&lt;servlet-name&gt;DisplayServlet&lt;/servlet-</a:t>
            </a:r>
            <a:r>
              <a:rPr sz="1200" spc="-20" dirty="0">
                <a:latin typeface="Times New Roman"/>
                <a:cs typeface="Times New Roman"/>
              </a:rPr>
              <a:t>name&gt;</a:t>
            </a:r>
            <a:endParaRPr sz="1200">
              <a:latin typeface="Times New Roman"/>
              <a:cs typeface="Times New Roman"/>
            </a:endParaRPr>
          </a:p>
          <a:p>
            <a:pPr marL="317500">
              <a:lnSpc>
                <a:spcPts val="1375"/>
              </a:lnSpc>
            </a:pPr>
            <a:r>
              <a:rPr sz="1200" spc="-10" dirty="0">
                <a:latin typeface="Times New Roman"/>
                <a:cs typeface="Times New Roman"/>
              </a:rPr>
              <a:t>&lt;servlet-class&gt;DisplayServlet&lt;/servlet-class&gt;</a:t>
            </a:r>
            <a:endParaRPr sz="1200">
              <a:latin typeface="Times New Roman"/>
              <a:cs typeface="Times New Roman"/>
            </a:endParaRPr>
          </a:p>
          <a:p>
            <a:pPr marL="165100">
              <a:lnSpc>
                <a:spcPts val="1405"/>
              </a:lnSpc>
            </a:pPr>
            <a:r>
              <a:rPr sz="1200" spc="-10" dirty="0">
                <a:latin typeface="Times New Roman"/>
                <a:cs typeface="Times New Roman"/>
              </a:rPr>
              <a:t>&lt;/servlet&gt;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817" y="435356"/>
            <a:ext cx="3195320" cy="1628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>
              <a:lnSpc>
                <a:spcPts val="141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&lt;servlet-mapping&gt;</a:t>
            </a:r>
            <a:endParaRPr sz="1200">
              <a:latin typeface="Times New Roman"/>
              <a:cs typeface="Times New Roman"/>
            </a:endParaRPr>
          </a:p>
          <a:p>
            <a:pPr marL="317500">
              <a:lnSpc>
                <a:spcPts val="1375"/>
              </a:lnSpc>
            </a:pPr>
            <a:r>
              <a:rPr sz="1200" spc="-10" dirty="0">
                <a:latin typeface="Times New Roman"/>
                <a:cs typeface="Times New Roman"/>
              </a:rPr>
              <a:t>&lt;servlet-name&gt;DisplayServlet&lt;/servlet-</a:t>
            </a:r>
            <a:r>
              <a:rPr sz="1200" spc="-20" dirty="0">
                <a:latin typeface="Times New Roman"/>
                <a:cs typeface="Times New Roman"/>
              </a:rPr>
              <a:t>name&gt;</a:t>
            </a:r>
            <a:endParaRPr sz="1200">
              <a:latin typeface="Times New Roman"/>
              <a:cs typeface="Times New Roman"/>
            </a:endParaRPr>
          </a:p>
          <a:p>
            <a:pPr marL="317500">
              <a:lnSpc>
                <a:spcPts val="1390"/>
              </a:lnSpc>
            </a:pPr>
            <a:r>
              <a:rPr sz="1200" spc="-10" dirty="0">
                <a:latin typeface="Times New Roman"/>
                <a:cs typeface="Times New Roman"/>
              </a:rPr>
              <a:t>&lt;url-pattern&gt;/DisplayServlet&lt;/url-pattern&gt;</a:t>
            </a:r>
            <a:endParaRPr sz="1200">
              <a:latin typeface="Times New Roman"/>
              <a:cs typeface="Times New Roman"/>
            </a:endParaRPr>
          </a:p>
          <a:p>
            <a:pPr marL="165100">
              <a:lnSpc>
                <a:spcPts val="1420"/>
              </a:lnSpc>
            </a:pPr>
            <a:r>
              <a:rPr sz="1200" spc="-10" dirty="0">
                <a:latin typeface="Times New Roman"/>
                <a:cs typeface="Times New Roman"/>
              </a:rPr>
              <a:t>&lt;/servlet-mapping&gt;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1200" spc="-10" dirty="0">
                <a:latin typeface="Times New Roman"/>
                <a:cs typeface="Times New Roman"/>
              </a:rPr>
              <a:t>&lt;/web-</a:t>
            </a:r>
            <a:r>
              <a:rPr sz="1200" spc="-20" dirty="0">
                <a:latin typeface="Times New Roman"/>
                <a:cs typeface="Times New Roman"/>
              </a:rPr>
              <a:t>app&gt;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3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350" b="1" dirty="0">
                <a:latin typeface="Times New Roman"/>
                <a:cs typeface="Times New Roman"/>
              </a:rPr>
              <a:t>OUTPUT</a:t>
            </a:r>
            <a:r>
              <a:rPr sz="1350" b="1" spc="-10" dirty="0">
                <a:latin typeface="Times New Roman"/>
                <a:cs typeface="Times New Roman"/>
              </a:rPr>
              <a:t> </a:t>
            </a:r>
            <a:r>
              <a:rPr sz="1350" b="1" spc="-50" dirty="0">
                <a:latin typeface="Times New Roman"/>
                <a:cs typeface="Times New Roman"/>
              </a:rPr>
              <a:t>:</a:t>
            </a:r>
            <a:endParaRPr sz="135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606929"/>
            <a:ext cx="6638925" cy="31813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rcRect t="44753"/>
          <a:stretch>
            <a:fillRect/>
          </a:stretch>
        </p:blipFill>
        <p:spPr>
          <a:xfrm>
            <a:off x="457200" y="7278854"/>
            <a:ext cx="6638925" cy="17575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A4A5B8-8DA8-3A17-2A8B-4D07DCF3DD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50" y="2535751"/>
            <a:ext cx="7162800" cy="36197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817" y="806831"/>
            <a:ext cx="6617334" cy="1000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10" dirty="0">
                <a:latin typeface="Times New Roman"/>
                <a:cs typeface="Times New Roman"/>
              </a:rPr>
              <a:t>Result:</a:t>
            </a:r>
            <a:endParaRPr sz="1350">
              <a:latin typeface="Times New Roman"/>
              <a:cs typeface="Times New Roman"/>
            </a:endParaRPr>
          </a:p>
          <a:p>
            <a:pPr marL="12700" marR="5080">
              <a:lnSpc>
                <a:spcPts val="1550"/>
              </a:lnSpc>
              <a:spcBef>
                <a:spcPts val="1440"/>
              </a:spcBef>
            </a:pPr>
            <a:r>
              <a:rPr sz="1350" dirty="0">
                <a:latin typeface="Times New Roman"/>
                <a:cs typeface="Times New Roman"/>
              </a:rPr>
              <a:t>The</a:t>
            </a:r>
            <a:r>
              <a:rPr sz="1350" spc="-4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experiment</a:t>
            </a:r>
            <a:r>
              <a:rPr sz="1350" spc="-4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was</a:t>
            </a:r>
            <a:r>
              <a:rPr sz="1350" spc="-6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successfully</a:t>
            </a:r>
            <a:r>
              <a:rPr sz="1350" spc="-3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completed.User</a:t>
            </a:r>
            <a:r>
              <a:rPr sz="1350" spc="-2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preferences</a:t>
            </a:r>
            <a:r>
              <a:rPr sz="1350" spc="-4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(theme</a:t>
            </a:r>
            <a:r>
              <a:rPr sz="1350" spc="-6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and</a:t>
            </a:r>
            <a:r>
              <a:rPr sz="1350" spc="-4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language)</a:t>
            </a:r>
            <a:r>
              <a:rPr sz="1350" spc="-6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were</a:t>
            </a:r>
            <a:r>
              <a:rPr sz="1350" spc="-60" dirty="0">
                <a:latin typeface="Times New Roman"/>
                <a:cs typeface="Times New Roman"/>
              </a:rPr>
              <a:t> </a:t>
            </a:r>
            <a:r>
              <a:rPr sz="1350" spc="-10" dirty="0">
                <a:latin typeface="Times New Roman"/>
                <a:cs typeface="Times New Roman"/>
              </a:rPr>
              <a:t>stored </a:t>
            </a:r>
            <a:r>
              <a:rPr sz="1350" dirty="0">
                <a:latin typeface="Times New Roman"/>
                <a:cs typeface="Times New Roman"/>
              </a:rPr>
              <a:t>using</a:t>
            </a:r>
            <a:r>
              <a:rPr sz="1350" spc="-2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cookies</a:t>
            </a:r>
            <a:r>
              <a:rPr sz="1350" spc="-2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and</a:t>
            </a:r>
            <a:r>
              <a:rPr sz="1350" spc="-4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retrieved</a:t>
            </a:r>
            <a:r>
              <a:rPr sz="1350" spc="-2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on</a:t>
            </a:r>
            <a:r>
              <a:rPr sz="1350" spc="-4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subsequent</a:t>
            </a:r>
            <a:r>
              <a:rPr sz="1350" spc="-2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visits,</a:t>
            </a:r>
            <a:r>
              <a:rPr sz="1350" spc="-1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allowing</a:t>
            </a:r>
            <a:r>
              <a:rPr sz="1350" spc="-4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the</a:t>
            </a:r>
            <a:r>
              <a:rPr sz="1350" spc="-2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weather</a:t>
            </a:r>
            <a:r>
              <a:rPr sz="1350" spc="-4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webpage</a:t>
            </a:r>
            <a:r>
              <a:rPr sz="1350" spc="-2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to</a:t>
            </a:r>
            <a:r>
              <a:rPr sz="1350" spc="-5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provide</a:t>
            </a:r>
            <a:r>
              <a:rPr sz="1350" spc="-20" dirty="0">
                <a:latin typeface="Times New Roman"/>
                <a:cs typeface="Times New Roman"/>
              </a:rPr>
              <a:t> </a:t>
            </a:r>
            <a:r>
              <a:rPr sz="1350" spc="-50" dirty="0">
                <a:latin typeface="Times New Roman"/>
                <a:cs typeface="Times New Roman"/>
              </a:rPr>
              <a:t>a </a:t>
            </a:r>
            <a:r>
              <a:rPr sz="1350" dirty="0">
                <a:latin typeface="Times New Roman"/>
                <a:cs typeface="Times New Roman"/>
              </a:rPr>
              <a:t>personalized</a:t>
            </a:r>
            <a:r>
              <a:rPr sz="1350" spc="-4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user</a:t>
            </a:r>
            <a:r>
              <a:rPr sz="1350" spc="-35" dirty="0">
                <a:latin typeface="Times New Roman"/>
                <a:cs typeface="Times New Roman"/>
              </a:rPr>
              <a:t> </a:t>
            </a:r>
            <a:r>
              <a:rPr sz="1350" spc="-10" dirty="0">
                <a:latin typeface="Times New Roman"/>
                <a:cs typeface="Times New Roman"/>
              </a:rPr>
              <a:t>experience.</a:t>
            </a:r>
            <a:endParaRPr sz="1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924</Words>
  <Application>Microsoft Office PowerPoint</Application>
  <PresentationFormat>Custom</PresentationFormat>
  <Paragraphs>124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Consolas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SURIYA T</cp:lastModifiedBy>
  <cp:revision>1</cp:revision>
  <dcterms:created xsi:type="dcterms:W3CDTF">2026-05-06T03:33:16Z</dcterms:created>
  <dcterms:modified xsi:type="dcterms:W3CDTF">2026-05-06T03:54:48Z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2026-03-30T00:00:00Z</vt:filetime>
  </property>
  <property fmtid="{D5CDD505-2E9C-101B-9397-08002B2CF9AE}" pid="3" name="Creator">
    <vt:lpwstr>Microsoft Word</vt:lpwstr>
  </property>
  <property fmtid="{D5CDD505-2E9C-101B-9397-08002B2CF9AE}" pid="4" name="LastSaved">
    <vt:filetime>2026-05-06T00:00:00Z</vt:filetime>
  </property>
</Properties>
</file>