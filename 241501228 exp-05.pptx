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435" y="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IYA T" userId="2d8c54d4828ef1cf" providerId="LiveId" clId="{87B3DC7B-09BD-4142-9DDE-040FAA37A2EE}"/>
    <pc:docChg chg="undo custSel modSld">
      <pc:chgData name="SURIYA T" userId="2d8c54d4828ef1cf" providerId="LiveId" clId="{87B3DC7B-09BD-4142-9DDE-040FAA37A2EE}" dt="2026-05-06T03:39:38.093" v="23" actId="1076"/>
      <pc:docMkLst>
        <pc:docMk/>
      </pc:docMkLst>
      <pc:sldChg chg="addSp delSp modSp mod">
        <pc:chgData name="SURIYA T" userId="2d8c54d4828ef1cf" providerId="LiveId" clId="{87B3DC7B-09BD-4142-9DDE-040FAA37A2EE}" dt="2026-05-06T03:35:39.836" v="8" actId="1076"/>
        <pc:sldMkLst>
          <pc:docMk/>
          <pc:sldMk cId="0" sldId="257"/>
        </pc:sldMkLst>
        <pc:spChg chg="add del">
          <ac:chgData name="SURIYA T" userId="2d8c54d4828ef1cf" providerId="LiveId" clId="{87B3DC7B-09BD-4142-9DDE-040FAA37A2EE}" dt="2026-05-06T03:34:53.205" v="1" actId="22"/>
          <ac:spMkLst>
            <pc:docMk/>
            <pc:sldMk cId="0" sldId="257"/>
            <ac:spMk id="5" creationId="{30E582C3-C7FB-E0E4-D288-C971C6ECBCBE}"/>
          </ac:spMkLst>
        </pc:spChg>
        <pc:picChg chg="add mod modCrop">
          <ac:chgData name="SURIYA T" userId="2d8c54d4828ef1cf" providerId="LiveId" clId="{87B3DC7B-09BD-4142-9DDE-040FAA37A2EE}" dt="2026-05-06T03:35:39.836" v="8" actId="1076"/>
          <ac:picMkLst>
            <pc:docMk/>
            <pc:sldMk cId="0" sldId="257"/>
            <ac:picMk id="7" creationId="{D752B215-656A-B86C-22C3-DA496EF0D8BF}"/>
          </ac:picMkLst>
        </pc:picChg>
      </pc:sldChg>
      <pc:sldChg chg="addSp delSp modSp mod">
        <pc:chgData name="SURIYA T" userId="2d8c54d4828ef1cf" providerId="LiveId" clId="{87B3DC7B-09BD-4142-9DDE-040FAA37A2EE}" dt="2026-05-06T03:38:40.328" v="16" actId="478"/>
        <pc:sldMkLst>
          <pc:docMk/>
          <pc:sldMk cId="0" sldId="258"/>
        </pc:sldMkLst>
        <pc:picChg chg="del">
          <ac:chgData name="SURIYA T" userId="2d8c54d4828ef1cf" providerId="LiveId" clId="{87B3DC7B-09BD-4142-9DDE-040FAA37A2EE}" dt="2026-05-06T03:38:40.328" v="16" actId="478"/>
          <ac:picMkLst>
            <pc:docMk/>
            <pc:sldMk cId="0" sldId="258"/>
            <ac:picMk id="4" creationId="{00000000-0000-0000-0000-000000000000}"/>
          </ac:picMkLst>
        </pc:picChg>
        <pc:picChg chg="del">
          <ac:chgData name="SURIYA T" userId="2d8c54d4828ef1cf" providerId="LiveId" clId="{87B3DC7B-09BD-4142-9DDE-040FAA37A2EE}" dt="2026-05-06T03:38:34.783" v="14" actId="478"/>
          <ac:picMkLst>
            <pc:docMk/>
            <pc:sldMk cId="0" sldId="258"/>
            <ac:picMk id="5" creationId="{00000000-0000-0000-0000-000000000000}"/>
          </ac:picMkLst>
        </pc:picChg>
        <pc:picChg chg="add mod">
          <ac:chgData name="SURIYA T" userId="2d8c54d4828ef1cf" providerId="LiveId" clId="{87B3DC7B-09BD-4142-9DDE-040FAA37A2EE}" dt="2026-05-06T03:38:38.652" v="15" actId="1076"/>
          <ac:picMkLst>
            <pc:docMk/>
            <pc:sldMk cId="0" sldId="258"/>
            <ac:picMk id="7" creationId="{D5E0CD2E-8E2E-9744-A475-E82A11CDD43B}"/>
          </ac:picMkLst>
        </pc:picChg>
      </pc:sldChg>
      <pc:sldChg chg="addSp delSp modSp mod">
        <pc:chgData name="SURIYA T" userId="2d8c54d4828ef1cf" providerId="LiveId" clId="{87B3DC7B-09BD-4142-9DDE-040FAA37A2EE}" dt="2026-05-06T03:39:38.093" v="23" actId="1076"/>
        <pc:sldMkLst>
          <pc:docMk/>
          <pc:sldMk cId="0" sldId="259"/>
        </pc:sldMkLst>
        <pc:picChg chg="del">
          <ac:chgData name="SURIYA T" userId="2d8c54d4828ef1cf" providerId="LiveId" clId="{87B3DC7B-09BD-4142-9DDE-040FAA37A2EE}" dt="2026-05-06T03:39:14.173" v="18" actId="478"/>
          <ac:picMkLst>
            <pc:docMk/>
            <pc:sldMk cId="0" sldId="259"/>
            <ac:picMk id="3" creationId="{00000000-0000-0000-0000-000000000000}"/>
          </ac:picMkLst>
        </pc:picChg>
        <pc:picChg chg="del">
          <ac:chgData name="SURIYA T" userId="2d8c54d4828ef1cf" providerId="LiveId" clId="{87B3DC7B-09BD-4142-9DDE-040FAA37A2EE}" dt="2026-05-06T03:38:46.818" v="17" actId="478"/>
          <ac:picMkLst>
            <pc:docMk/>
            <pc:sldMk cId="0" sldId="259"/>
            <ac:picMk id="4" creationId="{00000000-0000-0000-0000-000000000000}"/>
          </ac:picMkLst>
        </pc:picChg>
        <pc:picChg chg="add mod">
          <ac:chgData name="SURIYA T" userId="2d8c54d4828ef1cf" providerId="LiveId" clId="{87B3DC7B-09BD-4142-9DDE-040FAA37A2EE}" dt="2026-05-06T03:39:38.093" v="23" actId="1076"/>
          <ac:picMkLst>
            <pc:docMk/>
            <pc:sldMk cId="0" sldId="259"/>
            <ac:picMk id="6" creationId="{37957A0F-B6CA-4918-9C52-EE0BE3AFF36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7842" y="463613"/>
            <a:ext cx="6390640" cy="1146810"/>
          </a:xfrm>
          <a:prstGeom prst="rect">
            <a:avLst/>
          </a:prstGeom>
          <a:solidFill>
            <a:srgbClr val="E9EDF6"/>
          </a:solidFill>
        </p:spPr>
        <p:txBody>
          <a:bodyPr vert="horz" wrap="square" lIns="0" tIns="1905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50"/>
              </a:spcBef>
            </a:pPr>
            <a:r>
              <a:rPr sz="1600" dirty="0">
                <a:solidFill>
                  <a:srgbClr val="1F1F1F"/>
                </a:solidFill>
                <a:latin typeface="Arial Black"/>
                <a:cs typeface="Arial Black"/>
              </a:rPr>
              <a:t>Write</a:t>
            </a:r>
            <a:r>
              <a:rPr sz="1600" spc="-40" dirty="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sz="1600" dirty="0">
                <a:solidFill>
                  <a:srgbClr val="1F1F1F"/>
                </a:solidFill>
                <a:latin typeface="Arial Black"/>
                <a:cs typeface="Arial Black"/>
              </a:rPr>
              <a:t>a</a:t>
            </a:r>
            <a:r>
              <a:rPr sz="1600" spc="-35" dirty="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sz="1600" dirty="0">
                <a:solidFill>
                  <a:srgbClr val="1F1F1F"/>
                </a:solidFill>
                <a:latin typeface="Arial Black"/>
                <a:cs typeface="Arial Black"/>
              </a:rPr>
              <a:t>Servlet</a:t>
            </a:r>
            <a:r>
              <a:rPr sz="1600" spc="-30" dirty="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sz="1600" dirty="0">
                <a:solidFill>
                  <a:srgbClr val="1F1F1F"/>
                </a:solidFill>
                <a:latin typeface="Arial Black"/>
                <a:cs typeface="Arial Black"/>
              </a:rPr>
              <a:t>to</a:t>
            </a:r>
            <a:r>
              <a:rPr sz="1600" spc="-35" dirty="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sz="1600" dirty="0">
                <a:solidFill>
                  <a:srgbClr val="1F1F1F"/>
                </a:solidFill>
                <a:latin typeface="Arial Black"/>
                <a:cs typeface="Arial Black"/>
              </a:rPr>
              <a:t>demonstrate</a:t>
            </a:r>
            <a:r>
              <a:rPr sz="1600" spc="-35" dirty="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sz="1600" dirty="0">
                <a:solidFill>
                  <a:srgbClr val="1F1F1F"/>
                </a:solidFill>
                <a:latin typeface="Arial Black"/>
                <a:cs typeface="Arial Black"/>
              </a:rPr>
              <a:t>the</a:t>
            </a:r>
            <a:r>
              <a:rPr sz="1600" spc="-35" dirty="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sz="1600" dirty="0">
                <a:solidFill>
                  <a:srgbClr val="1F1F1F"/>
                </a:solidFill>
                <a:latin typeface="Arial Black"/>
                <a:cs typeface="Arial Black"/>
              </a:rPr>
              <a:t>difference</a:t>
            </a:r>
            <a:r>
              <a:rPr sz="1600" spc="-35" dirty="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Arial Black"/>
                <a:cs typeface="Arial Black"/>
              </a:rPr>
              <a:t>between</a:t>
            </a:r>
            <a:endParaRPr sz="1600">
              <a:latin typeface="Arial Black"/>
              <a:cs typeface="Arial Black"/>
            </a:endParaRPr>
          </a:p>
          <a:p>
            <a:pPr marL="19050">
              <a:lnSpc>
                <a:spcPct val="100000"/>
              </a:lnSpc>
              <a:spcBef>
                <a:spcPts val="330"/>
              </a:spcBef>
            </a:pPr>
            <a:r>
              <a:rPr sz="1600" dirty="0">
                <a:solidFill>
                  <a:srgbClr val="1F1F1F"/>
                </a:solidFill>
                <a:latin typeface="Arial Black"/>
                <a:cs typeface="Arial Black"/>
              </a:rPr>
              <a:t>HTTP</a:t>
            </a:r>
            <a:r>
              <a:rPr sz="1600" spc="-15" dirty="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sz="1600" dirty="0">
                <a:solidFill>
                  <a:srgbClr val="1F1F1F"/>
                </a:solidFill>
                <a:latin typeface="Arial Black"/>
                <a:cs typeface="Arial Black"/>
              </a:rPr>
              <a:t>GET</a:t>
            </a:r>
            <a:r>
              <a:rPr sz="1600" spc="-35" dirty="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sz="1600" dirty="0">
                <a:solidFill>
                  <a:srgbClr val="1F1F1F"/>
                </a:solidFill>
                <a:latin typeface="Arial Black"/>
                <a:cs typeface="Arial Black"/>
              </a:rPr>
              <a:t>and</a:t>
            </a:r>
            <a:r>
              <a:rPr sz="1600" spc="-30" dirty="0">
                <a:solidFill>
                  <a:srgbClr val="1F1F1F"/>
                </a:solidFill>
                <a:latin typeface="Arial Black"/>
                <a:cs typeface="Arial Black"/>
              </a:rPr>
              <a:t> </a:t>
            </a:r>
            <a:r>
              <a:rPr sz="1600" spc="-20" dirty="0">
                <a:solidFill>
                  <a:srgbClr val="1F1F1F"/>
                </a:solidFill>
                <a:latin typeface="Arial Black"/>
                <a:cs typeface="Arial Black"/>
              </a:rPr>
              <a:t>POST</a:t>
            </a:r>
            <a:endParaRPr sz="1600">
              <a:latin typeface="Arial Black"/>
              <a:cs typeface="Arial Black"/>
            </a:endParaRPr>
          </a:p>
          <a:p>
            <a:pPr marL="19050" marR="19685">
              <a:lnSpc>
                <a:spcPct val="117200"/>
              </a:lnSpc>
              <a:spcBef>
                <a:spcPts val="25"/>
              </a:spcBef>
              <a:tabLst>
                <a:tab pos="1154430" algn="l"/>
                <a:tab pos="1588770" algn="l"/>
                <a:tab pos="2689225" algn="l"/>
                <a:tab pos="2999740" algn="l"/>
                <a:tab pos="3682365" algn="l"/>
                <a:tab pos="4265295" algn="l"/>
                <a:tab pos="5391150" algn="l"/>
              </a:tabLst>
            </a:pPr>
            <a:r>
              <a:rPr sz="1600" spc="-10" dirty="0">
                <a:solidFill>
                  <a:srgbClr val="1F1F1F"/>
                </a:solidFill>
                <a:latin typeface="Arial Black"/>
                <a:cs typeface="Arial Black"/>
              </a:rPr>
              <a:t>methods</a:t>
            </a:r>
            <a:r>
              <a:rPr sz="1600" dirty="0">
                <a:solidFill>
                  <a:srgbClr val="1F1F1F"/>
                </a:solidFill>
                <a:latin typeface="Arial Black"/>
                <a:cs typeface="Arial Black"/>
              </a:rPr>
              <a:t>	</a:t>
            </a:r>
            <a:r>
              <a:rPr sz="1600" spc="-25" dirty="0">
                <a:solidFill>
                  <a:srgbClr val="1F1F1F"/>
                </a:solidFill>
                <a:latin typeface="Arial Black"/>
                <a:cs typeface="Arial Black"/>
              </a:rPr>
              <a:t>by</a:t>
            </a:r>
            <a:r>
              <a:rPr sz="1600" dirty="0">
                <a:solidFill>
                  <a:srgbClr val="1F1F1F"/>
                </a:solidFill>
                <a:latin typeface="Arial Black"/>
                <a:cs typeface="Arial Black"/>
              </a:rPr>
              <a:t>	</a:t>
            </a:r>
            <a:r>
              <a:rPr sz="1600" spc="-10" dirty="0">
                <a:solidFill>
                  <a:srgbClr val="1F1F1F"/>
                </a:solidFill>
                <a:latin typeface="Arial Black"/>
                <a:cs typeface="Arial Black"/>
              </a:rPr>
              <a:t>creating</a:t>
            </a:r>
            <a:r>
              <a:rPr sz="1600" dirty="0">
                <a:solidFill>
                  <a:srgbClr val="1F1F1F"/>
                </a:solidFill>
                <a:latin typeface="Arial Black"/>
                <a:cs typeface="Arial Black"/>
              </a:rPr>
              <a:t>	</a:t>
            </a:r>
            <a:r>
              <a:rPr sz="1600" spc="-50" dirty="0">
                <a:solidFill>
                  <a:srgbClr val="1F1F1F"/>
                </a:solidFill>
                <a:latin typeface="Arial Black"/>
                <a:cs typeface="Arial Black"/>
              </a:rPr>
              <a:t>a</a:t>
            </a:r>
            <a:r>
              <a:rPr sz="1600" dirty="0">
                <a:solidFill>
                  <a:srgbClr val="1F1F1F"/>
                </a:solidFill>
                <a:latin typeface="Arial Black"/>
                <a:cs typeface="Arial Black"/>
              </a:rPr>
              <a:t>	</a:t>
            </a:r>
            <a:r>
              <a:rPr sz="1600" spc="-20" dirty="0">
                <a:solidFill>
                  <a:srgbClr val="1F1F1F"/>
                </a:solidFill>
                <a:latin typeface="Arial Black"/>
                <a:cs typeface="Arial Black"/>
              </a:rPr>
              <a:t>form</a:t>
            </a:r>
            <a:r>
              <a:rPr sz="1600" dirty="0">
                <a:solidFill>
                  <a:srgbClr val="1F1F1F"/>
                </a:solidFill>
                <a:latin typeface="Arial Black"/>
                <a:cs typeface="Arial Black"/>
              </a:rPr>
              <a:t>	</a:t>
            </a:r>
            <a:r>
              <a:rPr sz="1600" spc="-25" dirty="0">
                <a:solidFill>
                  <a:srgbClr val="1F1F1F"/>
                </a:solidFill>
                <a:latin typeface="Arial Black"/>
                <a:cs typeface="Arial Black"/>
              </a:rPr>
              <a:t>and</a:t>
            </a:r>
            <a:r>
              <a:rPr sz="1600" dirty="0">
                <a:solidFill>
                  <a:srgbClr val="1F1F1F"/>
                </a:solidFill>
                <a:latin typeface="Arial Black"/>
                <a:cs typeface="Arial Black"/>
              </a:rPr>
              <a:t>	</a:t>
            </a:r>
            <a:r>
              <a:rPr sz="1600" spc="-10" dirty="0">
                <a:solidFill>
                  <a:srgbClr val="1F1F1F"/>
                </a:solidFill>
                <a:latin typeface="Arial Black"/>
                <a:cs typeface="Arial Black"/>
              </a:rPr>
              <a:t>handling</a:t>
            </a:r>
            <a:r>
              <a:rPr sz="1600" dirty="0">
                <a:solidFill>
                  <a:srgbClr val="1F1F1F"/>
                </a:solidFill>
                <a:latin typeface="Arial Black"/>
                <a:cs typeface="Arial Black"/>
              </a:rPr>
              <a:t>	</a:t>
            </a:r>
            <a:r>
              <a:rPr sz="1600" spc="-10" dirty="0">
                <a:solidFill>
                  <a:srgbClr val="1F1F1F"/>
                </a:solidFill>
                <a:latin typeface="Arial Black"/>
                <a:cs typeface="Arial Black"/>
              </a:rPr>
              <a:t>requests accordingly.</a:t>
            </a:r>
            <a:endParaRPr sz="1600">
              <a:latin typeface="Arial Black"/>
              <a:cs typeface="Arial Black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63867" y="457199"/>
            <a:ext cx="6496050" cy="1365885"/>
          </a:xfrm>
          <a:custGeom>
            <a:avLst/>
            <a:gdLst/>
            <a:ahLst/>
            <a:cxnLst/>
            <a:rect l="l" t="t" r="r" b="b"/>
            <a:pathLst>
              <a:path w="6496050" h="1365885">
                <a:moveTo>
                  <a:pt x="6489065" y="0"/>
                </a:moveTo>
                <a:lnTo>
                  <a:pt x="6350" y="0"/>
                </a:lnTo>
                <a:lnTo>
                  <a:pt x="0" y="0"/>
                </a:lnTo>
                <a:lnTo>
                  <a:pt x="0" y="6350"/>
                </a:lnTo>
                <a:lnTo>
                  <a:pt x="0" y="1359535"/>
                </a:lnTo>
                <a:lnTo>
                  <a:pt x="0" y="1365885"/>
                </a:lnTo>
                <a:lnTo>
                  <a:pt x="6350" y="1365885"/>
                </a:lnTo>
                <a:lnTo>
                  <a:pt x="6489065" y="1365885"/>
                </a:lnTo>
                <a:lnTo>
                  <a:pt x="6489065" y="1359535"/>
                </a:lnTo>
                <a:lnTo>
                  <a:pt x="6350" y="1359535"/>
                </a:lnTo>
                <a:lnTo>
                  <a:pt x="6350" y="6350"/>
                </a:lnTo>
                <a:lnTo>
                  <a:pt x="6489065" y="6350"/>
                </a:lnTo>
                <a:lnTo>
                  <a:pt x="6489065" y="0"/>
                </a:lnTo>
                <a:close/>
              </a:path>
              <a:path w="6496050" h="1365885">
                <a:moveTo>
                  <a:pt x="6495478" y="0"/>
                </a:moveTo>
                <a:lnTo>
                  <a:pt x="6489128" y="0"/>
                </a:lnTo>
                <a:lnTo>
                  <a:pt x="6489128" y="6350"/>
                </a:lnTo>
                <a:lnTo>
                  <a:pt x="6489128" y="1359535"/>
                </a:lnTo>
                <a:lnTo>
                  <a:pt x="6489128" y="1365885"/>
                </a:lnTo>
                <a:lnTo>
                  <a:pt x="6495478" y="1365885"/>
                </a:lnTo>
                <a:lnTo>
                  <a:pt x="6495478" y="1359535"/>
                </a:lnTo>
                <a:lnTo>
                  <a:pt x="6495478" y="6350"/>
                </a:lnTo>
                <a:lnTo>
                  <a:pt x="64954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4817" y="2664841"/>
            <a:ext cx="6610350" cy="3959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25" dirty="0">
                <a:latin typeface="Times New Roman"/>
                <a:cs typeface="Times New Roman"/>
              </a:rPr>
              <a:t>AIM</a:t>
            </a:r>
            <a:endParaRPr sz="1350">
              <a:latin typeface="Times New Roman"/>
              <a:cs typeface="Times New Roman"/>
            </a:endParaRPr>
          </a:p>
          <a:p>
            <a:pPr marL="12700" marR="84455">
              <a:lnSpc>
                <a:spcPts val="1370"/>
              </a:lnSpc>
              <a:spcBef>
                <a:spcPts val="1455"/>
              </a:spcBef>
            </a:pP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demonstrating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difference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HTTP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methods.</a:t>
            </a:r>
            <a:r>
              <a:rPr sz="1200" spc="-25" dirty="0">
                <a:latin typeface="Times New Roman"/>
                <a:cs typeface="Times New Roman"/>
              </a:rPr>
              <a:t> The </a:t>
            </a:r>
            <a:r>
              <a:rPr sz="1200" spc="-10" dirty="0">
                <a:latin typeface="Times New Roman"/>
                <a:cs typeface="Times New Roman"/>
              </a:rPr>
              <a:t>application </a:t>
            </a:r>
            <a:r>
              <a:rPr sz="1200" dirty="0">
                <a:latin typeface="Times New Roman"/>
                <a:cs typeface="Times New Roman"/>
              </a:rPr>
              <a:t>includes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secure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gateway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leading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weather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dashboard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search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city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submit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weather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reports.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1350" b="1" spc="-10" dirty="0">
                <a:latin typeface="Times New Roman"/>
                <a:cs typeface="Times New Roman"/>
              </a:rPr>
              <a:t>ALGORITHM</a:t>
            </a:r>
            <a:endParaRPr sz="1350">
              <a:latin typeface="Times New Roman"/>
              <a:cs typeface="Times New Roman"/>
            </a:endParaRPr>
          </a:p>
          <a:p>
            <a:pPr marL="469900" marR="180340" indent="-228600">
              <a:lnSpc>
                <a:spcPts val="1380"/>
              </a:lnSpc>
              <a:spcBef>
                <a:spcPts val="1475"/>
              </a:spcBef>
              <a:buFont typeface="Times New Roman"/>
              <a:buAutoNum type="arabicPeriod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Input: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credentials;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once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authenticated,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they input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city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searching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or </a:t>
            </a:r>
            <a:r>
              <a:rPr sz="1200" dirty="0">
                <a:latin typeface="Times New Roman"/>
                <a:cs typeface="Times New Roman"/>
              </a:rPr>
              <a:t>weather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feedback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submission.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00"/>
              </a:lnSpc>
              <a:buFont typeface="Times New Roman"/>
              <a:buAutoNum type="arabicPeriod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Form</a:t>
            </a:r>
            <a:r>
              <a:rPr sz="1200" b="1" spc="-5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Handling:</a:t>
            </a:r>
            <a:endParaRPr sz="1200">
              <a:latin typeface="Times New Roman"/>
              <a:cs typeface="Times New Roman"/>
            </a:endParaRPr>
          </a:p>
          <a:p>
            <a:pPr marL="927100" lvl="1" indent="-228600">
              <a:lnSpc>
                <a:spcPts val="1400"/>
              </a:lnSpc>
              <a:buSzPct val="83333"/>
              <a:buFont typeface="Courier New"/>
              <a:buChar char="o"/>
              <a:tabLst>
                <a:tab pos="927100" algn="l"/>
              </a:tabLst>
            </a:pP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index.html</a:t>
            </a:r>
            <a:r>
              <a:rPr sz="1000" spc="-300" dirty="0">
                <a:latin typeface="Courier New"/>
                <a:cs typeface="Courier New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POST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secure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login.</a:t>
            </a:r>
            <a:endParaRPr sz="1200">
              <a:latin typeface="Times New Roman"/>
              <a:cs typeface="Times New Roman"/>
            </a:endParaRPr>
          </a:p>
          <a:p>
            <a:pPr marL="927100" marR="415290" lvl="1" indent="-228600">
              <a:lnSpc>
                <a:spcPts val="1380"/>
              </a:lnSpc>
              <a:spcBef>
                <a:spcPts val="90"/>
              </a:spcBef>
              <a:buSzPct val="83333"/>
              <a:buFont typeface="Courier New"/>
              <a:buChar char="o"/>
              <a:tabLst>
                <a:tab pos="927100" algn="l"/>
              </a:tabLst>
            </a:pP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dashboard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GET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city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searches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POST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reporting conditions.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15"/>
              </a:lnSpc>
              <a:buFont typeface="Times New Roman"/>
              <a:buAutoNum type="arabicPeriod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Servlet</a:t>
            </a:r>
            <a:r>
              <a:rPr sz="1200" b="1" spc="-6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Processing:</a:t>
            </a:r>
            <a:endParaRPr sz="1200">
              <a:latin typeface="Times New Roman"/>
              <a:cs typeface="Times New Roman"/>
            </a:endParaRPr>
          </a:p>
          <a:p>
            <a:pPr marL="927100" lvl="1" indent="-228600">
              <a:lnSpc>
                <a:spcPts val="1390"/>
              </a:lnSpc>
              <a:buSzPct val="83333"/>
              <a:buFont typeface="Courier New"/>
              <a:buChar char="o"/>
              <a:tabLst>
                <a:tab pos="92710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LoginServlet: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Authenticates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credentials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redirects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upon</a:t>
            </a:r>
            <a:r>
              <a:rPr sz="1200" spc="-10" dirty="0">
                <a:latin typeface="Times New Roman"/>
                <a:cs typeface="Times New Roman"/>
              </a:rPr>
              <a:t> success.</a:t>
            </a:r>
            <a:endParaRPr sz="1200">
              <a:latin typeface="Times New Roman"/>
              <a:cs typeface="Times New Roman"/>
            </a:endParaRPr>
          </a:p>
          <a:p>
            <a:pPr marL="927100" lvl="1" indent="-228600">
              <a:lnSpc>
                <a:spcPts val="1400"/>
              </a:lnSpc>
              <a:buSzPct val="83333"/>
              <a:buFont typeface="Courier New"/>
              <a:buChar char="o"/>
              <a:tabLst>
                <a:tab pos="92710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WeatherServlet: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Overrides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doGet()</a:t>
            </a:r>
            <a:r>
              <a:rPr sz="1000" spc="-300" dirty="0">
                <a:latin typeface="Courier New"/>
                <a:cs typeface="Courier New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searches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URL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parameters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 </a:t>
            </a:r>
            <a:r>
              <a:rPr sz="1000" spc="-10" dirty="0">
                <a:latin typeface="Courier New"/>
                <a:cs typeface="Courier New"/>
              </a:rPr>
              <a:t>doPost()</a:t>
            </a:r>
            <a:endParaRPr sz="1000">
              <a:latin typeface="Courier New"/>
              <a:cs typeface="Courier New"/>
            </a:endParaRPr>
          </a:p>
          <a:p>
            <a:pPr marL="927100">
              <a:lnSpc>
                <a:spcPts val="1400"/>
              </a:lnSpc>
            </a:pP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report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submissions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request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body.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75"/>
              </a:lnSpc>
              <a:buFont typeface="Times New Roman"/>
              <a:buAutoNum type="arabicPeriod" startAt="4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Deployment: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Compile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Servlets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deploy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container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Apache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Tomcat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Use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400"/>
              </a:lnSpc>
            </a:pPr>
            <a:r>
              <a:rPr sz="1000" spc="-10" dirty="0">
                <a:latin typeface="Courier New"/>
                <a:cs typeface="Courier New"/>
              </a:rPr>
              <a:t>@WebServlet</a:t>
            </a:r>
            <a:r>
              <a:rPr sz="1000" spc="-28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annotations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web.xml</a:t>
            </a:r>
            <a:r>
              <a:rPr sz="1000" spc="-290" dirty="0">
                <a:latin typeface="Courier New"/>
                <a:cs typeface="Courier New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URL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mapping.</a:t>
            </a:r>
            <a:endParaRPr sz="1200">
              <a:latin typeface="Times New Roman"/>
              <a:cs typeface="Times New Roman"/>
            </a:endParaRPr>
          </a:p>
          <a:p>
            <a:pPr marL="469900" marR="395605" indent="-228600">
              <a:lnSpc>
                <a:spcPts val="1380"/>
              </a:lnSpc>
              <a:spcBef>
                <a:spcPts val="90"/>
              </a:spcBef>
              <a:buFont typeface="Times New Roman"/>
              <a:buAutoNum type="arabicPeriod" startAt="5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Output: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Display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(City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search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result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submission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confirmation)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back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spc="-10" dirty="0">
                <a:latin typeface="Times New Roman"/>
                <a:cs typeface="Times New Roman"/>
              </a:rPr>
              <a:t>browser.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817" y="7117334"/>
            <a:ext cx="6504305" cy="3087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latin typeface="Times New Roman"/>
                <a:cs typeface="Times New Roman"/>
              </a:rPr>
              <a:t>SOURCE</a:t>
            </a:r>
            <a:r>
              <a:rPr sz="1350" b="1" spc="10" dirty="0">
                <a:latin typeface="Times New Roman"/>
                <a:cs typeface="Times New Roman"/>
              </a:rPr>
              <a:t> </a:t>
            </a:r>
            <a:r>
              <a:rPr sz="1350" b="1" spc="-20" dirty="0">
                <a:latin typeface="Times New Roman"/>
                <a:cs typeface="Times New Roman"/>
              </a:rPr>
              <a:t>CODE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sz="1200" b="1" dirty="0">
                <a:latin typeface="Times New Roman"/>
                <a:cs typeface="Times New Roman"/>
              </a:rPr>
              <a:t>User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Interface</a:t>
            </a:r>
            <a:r>
              <a:rPr sz="1200" b="1" spc="-4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(index.html)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60"/>
              </a:lnSpc>
              <a:spcBef>
                <a:spcPts val="1360"/>
              </a:spcBef>
            </a:pPr>
            <a:r>
              <a:rPr sz="1200" spc="-20" dirty="0">
                <a:latin typeface="Times New Roman"/>
                <a:cs typeface="Times New Roman"/>
              </a:rPr>
              <a:t>HTML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080"/>
              </a:lnSpc>
            </a:pPr>
            <a:r>
              <a:rPr sz="1000" dirty="0">
                <a:latin typeface="Courier New"/>
                <a:cs typeface="Courier New"/>
              </a:rPr>
              <a:t>&lt;!DOCTYPE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html&gt;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25"/>
              </a:lnSpc>
            </a:pPr>
            <a:r>
              <a:rPr sz="1000" dirty="0">
                <a:latin typeface="Courier New"/>
                <a:cs typeface="Courier New"/>
              </a:rPr>
              <a:t>&lt;html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lang="en"&gt;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&lt;head&gt;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40"/>
              </a:lnSpc>
            </a:pPr>
            <a:r>
              <a:rPr sz="1000" dirty="0">
                <a:latin typeface="Courier New"/>
                <a:cs typeface="Courier New"/>
              </a:rPr>
              <a:t>&lt;meta</a:t>
            </a:r>
            <a:r>
              <a:rPr sz="1000" spc="5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charset="UTF-</a:t>
            </a:r>
            <a:r>
              <a:rPr sz="1000" spc="-25" dirty="0">
                <a:latin typeface="Courier New"/>
                <a:cs typeface="Courier New"/>
              </a:rPr>
              <a:t>8"&gt;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25"/>
              </a:lnSpc>
            </a:pPr>
            <a:r>
              <a:rPr sz="1000" dirty="0">
                <a:latin typeface="Courier New"/>
                <a:cs typeface="Courier New"/>
              </a:rPr>
              <a:t>&lt;title&gt;Login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|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Weather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Portal&lt;/title&gt;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&lt;style&gt;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40"/>
              </a:lnSpc>
            </a:pPr>
            <a:r>
              <a:rPr sz="1000" dirty="0">
                <a:latin typeface="Courier New"/>
                <a:cs typeface="Courier New"/>
              </a:rPr>
              <a:t>body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{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margin: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0;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font-</a:t>
            </a:r>
            <a:r>
              <a:rPr sz="1000" dirty="0">
                <a:latin typeface="Courier New"/>
                <a:cs typeface="Courier New"/>
              </a:rPr>
              <a:t>family: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'Poppins',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sans-</a:t>
            </a:r>
            <a:r>
              <a:rPr sz="1000" dirty="0">
                <a:latin typeface="Courier New"/>
                <a:cs typeface="Courier New"/>
              </a:rPr>
              <a:t>serif;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height: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100vh;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display: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25"/>
              </a:lnSpc>
            </a:pPr>
            <a:r>
              <a:rPr sz="1000" spc="-10" dirty="0">
                <a:latin typeface="Courier New"/>
                <a:cs typeface="Courier New"/>
              </a:rPr>
              <a:t>flex;</a:t>
            </a:r>
            <a:endParaRPr sz="1000">
              <a:latin typeface="Courier New"/>
              <a:cs typeface="Courier New"/>
            </a:endParaRPr>
          </a:p>
          <a:p>
            <a:pPr marL="1155700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justify-</a:t>
            </a:r>
            <a:r>
              <a:rPr sz="1000" dirty="0">
                <a:latin typeface="Courier New"/>
                <a:cs typeface="Courier New"/>
              </a:rPr>
              <a:t>content: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center;</a:t>
            </a:r>
            <a:r>
              <a:rPr sz="1000" spc="-10" dirty="0">
                <a:latin typeface="Courier New"/>
                <a:cs typeface="Courier New"/>
              </a:rPr>
              <a:t> align-</a:t>
            </a:r>
            <a:r>
              <a:rPr sz="1000" dirty="0">
                <a:latin typeface="Courier New"/>
                <a:cs typeface="Courier New"/>
              </a:rPr>
              <a:t>items:</a:t>
            </a:r>
            <a:r>
              <a:rPr sz="1000" spc="-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center;</a:t>
            </a:r>
            <a:endParaRPr sz="1000">
              <a:latin typeface="Courier New"/>
              <a:cs typeface="Courier New"/>
            </a:endParaRPr>
          </a:p>
          <a:p>
            <a:pPr marL="1155700">
              <a:lnSpc>
                <a:spcPts val="1140"/>
              </a:lnSpc>
            </a:pPr>
            <a:r>
              <a:rPr sz="1000" dirty="0">
                <a:latin typeface="Courier New"/>
                <a:cs typeface="Courier New"/>
              </a:rPr>
              <a:t>background: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linear-</a:t>
            </a:r>
            <a:r>
              <a:rPr sz="1000" dirty="0">
                <a:latin typeface="Courier New"/>
                <a:cs typeface="Courier New"/>
              </a:rPr>
              <a:t>gradient(43deg,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#4158D0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0%,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#C850C0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46%,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#FFCC70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25"/>
              </a:lnSpc>
            </a:pPr>
            <a:r>
              <a:rPr sz="1000" dirty="0">
                <a:latin typeface="Courier New"/>
                <a:cs typeface="Courier New"/>
              </a:rPr>
              <a:t>100%);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 marR="385445" indent="609600">
              <a:lnSpc>
                <a:spcPts val="1150"/>
              </a:lnSpc>
              <a:spcBef>
                <a:spcPts val="40"/>
              </a:spcBef>
            </a:pPr>
            <a:r>
              <a:rPr sz="1000" spc="-10" dirty="0">
                <a:latin typeface="Courier New"/>
                <a:cs typeface="Courier New"/>
              </a:rPr>
              <a:t>.glass-</a:t>
            </a:r>
            <a:r>
              <a:rPr sz="1000" dirty="0">
                <a:latin typeface="Courier New"/>
                <a:cs typeface="Courier New"/>
              </a:rPr>
              <a:t>card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{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background: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rgba(255,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255,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255,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0.2);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border-</a:t>
            </a:r>
            <a:r>
              <a:rPr sz="1000" dirty="0">
                <a:latin typeface="Courier New"/>
                <a:cs typeface="Courier New"/>
              </a:rPr>
              <a:t>radius: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25px; </a:t>
            </a:r>
            <a:r>
              <a:rPr sz="1000" dirty="0">
                <a:latin typeface="Courier New"/>
                <a:cs typeface="Courier New"/>
              </a:rPr>
              <a:t>padding: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40px;</a:t>
            </a:r>
            <a:endParaRPr sz="1000">
              <a:latin typeface="Courier New"/>
              <a:cs typeface="Courier New"/>
            </a:endParaRPr>
          </a:p>
          <a:p>
            <a:pPr marL="1689735">
              <a:lnSpc>
                <a:spcPts val="1060"/>
              </a:lnSpc>
            </a:pPr>
            <a:r>
              <a:rPr sz="1000" spc="-10" dirty="0">
                <a:latin typeface="Courier New"/>
                <a:cs typeface="Courier New"/>
              </a:rPr>
              <a:t>text-</a:t>
            </a:r>
            <a:r>
              <a:rPr sz="1000" dirty="0">
                <a:latin typeface="Courier New"/>
                <a:cs typeface="Courier New"/>
              </a:rPr>
              <a:t>align: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center;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color: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white;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backdrop-</a:t>
            </a:r>
            <a:r>
              <a:rPr sz="1000" dirty="0">
                <a:latin typeface="Courier New"/>
                <a:cs typeface="Courier New"/>
              </a:rPr>
              <a:t>filter: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blur(10px);</a:t>
            </a:r>
            <a:endParaRPr sz="1000">
              <a:latin typeface="Courier New"/>
              <a:cs typeface="Courier New"/>
            </a:endParaRPr>
          </a:p>
          <a:p>
            <a:pPr marL="1689735">
              <a:lnSpc>
                <a:spcPts val="1165"/>
              </a:lnSpc>
            </a:pPr>
            <a:r>
              <a:rPr sz="1000" dirty="0">
                <a:latin typeface="Courier New"/>
                <a:cs typeface="Courier New"/>
              </a:rPr>
              <a:t>border: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1px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solid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rgba(255,255,255,0.1);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width: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350px;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817" y="422656"/>
            <a:ext cx="6656705" cy="593534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156845" indent="609600">
              <a:lnSpc>
                <a:spcPts val="1130"/>
              </a:lnSpc>
              <a:spcBef>
                <a:spcPts val="195"/>
              </a:spcBef>
            </a:pPr>
            <a:r>
              <a:rPr sz="1000" dirty="0">
                <a:latin typeface="Courier New"/>
                <a:cs typeface="Courier New"/>
              </a:rPr>
              <a:t>input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{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width: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100%;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padding: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12px;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margin-</a:t>
            </a:r>
            <a:r>
              <a:rPr sz="1000" dirty="0">
                <a:latin typeface="Courier New"/>
                <a:cs typeface="Courier New"/>
              </a:rPr>
              <a:t>bottom: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15px;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border-</a:t>
            </a:r>
            <a:r>
              <a:rPr sz="1000" dirty="0">
                <a:latin typeface="Courier New"/>
                <a:cs typeface="Courier New"/>
              </a:rPr>
              <a:t>radius: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10px; </a:t>
            </a:r>
            <a:r>
              <a:rPr sz="1000" dirty="0">
                <a:latin typeface="Courier New"/>
                <a:cs typeface="Courier New"/>
              </a:rPr>
              <a:t>border: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none;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155700" marR="5080" indent="-534035">
              <a:lnSpc>
                <a:spcPts val="1130"/>
              </a:lnSpc>
              <a:spcBef>
                <a:spcPts val="15"/>
              </a:spcBef>
            </a:pPr>
            <a:r>
              <a:rPr sz="1000" dirty="0">
                <a:latin typeface="Courier New"/>
                <a:cs typeface="Courier New"/>
              </a:rPr>
              <a:t>.btn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{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width: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100%;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padding: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12px;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border-</a:t>
            </a:r>
            <a:r>
              <a:rPr sz="1000" dirty="0">
                <a:latin typeface="Courier New"/>
                <a:cs typeface="Courier New"/>
              </a:rPr>
              <a:t>radius: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30px;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border: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none; </a:t>
            </a:r>
            <a:r>
              <a:rPr sz="1000" dirty="0">
                <a:latin typeface="Courier New"/>
                <a:cs typeface="Courier New"/>
              </a:rPr>
              <a:t>background: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#6c5ce7;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color: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white;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font-</a:t>
            </a:r>
            <a:r>
              <a:rPr sz="1000" dirty="0">
                <a:latin typeface="Courier New"/>
                <a:cs typeface="Courier New"/>
              </a:rPr>
              <a:t>weight: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bold;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cursor: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pointer;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070"/>
              </a:lnSpc>
            </a:pPr>
            <a:r>
              <a:rPr sz="1000" spc="-10" dirty="0">
                <a:latin typeface="Courier New"/>
                <a:cs typeface="Courier New"/>
              </a:rPr>
              <a:t>&lt;/style&gt;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&lt;/head&gt;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25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65"/>
              </a:lnSpc>
            </a:pPr>
            <a:r>
              <a:rPr sz="1000" dirty="0">
                <a:latin typeface="Courier New"/>
                <a:cs typeface="Courier New"/>
              </a:rPr>
              <a:t>&lt;div</a:t>
            </a:r>
            <a:r>
              <a:rPr sz="1000" spc="5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class="glass-card"&gt;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65"/>
              </a:lnSpc>
              <a:spcBef>
                <a:spcPts val="200"/>
              </a:spcBef>
            </a:pPr>
            <a:r>
              <a:rPr sz="1000" spc="-10" dirty="0">
                <a:latin typeface="Courier New"/>
                <a:cs typeface="Courier New"/>
              </a:rPr>
              <a:t>&lt;h1&gt;</a:t>
            </a:r>
            <a:r>
              <a:rPr sz="1000" spc="-275" dirty="0">
                <a:solidFill>
                  <a:srgbClr val="B4ACBB"/>
                </a:solidFill>
                <a:latin typeface="Segoe UI Emoji"/>
                <a:cs typeface="Segoe UI Emoji"/>
              </a:rPr>
              <a:t> </a:t>
            </a:r>
            <a:r>
              <a:rPr sz="1000" spc="-865" dirty="0">
                <a:solidFill>
                  <a:srgbClr val="FF822C"/>
                </a:solidFill>
                <a:latin typeface="Segoe UI Emoji"/>
                <a:cs typeface="Segoe UI Emoji"/>
              </a:rPr>
              <a:t>◆</a:t>
            </a:r>
            <a:r>
              <a:rPr sz="1000" spc="-865" dirty="0">
                <a:solidFill>
                  <a:srgbClr val="F8C23B"/>
                </a:solidFill>
                <a:latin typeface="Segoe UI Emoji"/>
                <a:cs typeface="Segoe UI Emoji"/>
              </a:rPr>
              <a:t>●</a:t>
            </a:r>
            <a:r>
              <a:rPr sz="1000" spc="380" dirty="0">
                <a:solidFill>
                  <a:srgbClr val="F3EDF8"/>
                </a:solidFill>
                <a:latin typeface="Segoe UI Emoji"/>
                <a:cs typeface="Segoe UI Emoji"/>
              </a:rPr>
              <a:t>   </a:t>
            </a:r>
            <a:r>
              <a:rPr sz="1000" dirty="0">
                <a:latin typeface="Courier New"/>
                <a:cs typeface="Courier New"/>
              </a:rPr>
              <a:t>Weather</a:t>
            </a:r>
            <a:r>
              <a:rPr sz="1000" spc="-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Login&lt;/h1&gt;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25"/>
              </a:lnSpc>
            </a:pPr>
            <a:r>
              <a:rPr sz="1000" dirty="0">
                <a:latin typeface="Courier New"/>
                <a:cs typeface="Courier New"/>
              </a:rPr>
              <a:t>&lt;form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action="LoginServlet"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method="POST"&gt;</a:t>
            </a:r>
            <a:endParaRPr sz="1000">
              <a:latin typeface="Courier New"/>
              <a:cs typeface="Courier New"/>
            </a:endParaRPr>
          </a:p>
          <a:p>
            <a:pPr marL="927100">
              <a:lnSpc>
                <a:spcPts val="1125"/>
              </a:lnSpc>
            </a:pPr>
            <a:r>
              <a:rPr sz="1000" dirty="0">
                <a:latin typeface="Courier New"/>
                <a:cs typeface="Courier New"/>
              </a:rPr>
              <a:t>&lt;input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type="text"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name="userid"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placeholder="Username"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required&gt;</a:t>
            </a:r>
            <a:endParaRPr sz="1000">
              <a:latin typeface="Courier New"/>
              <a:cs typeface="Courier New"/>
            </a:endParaRPr>
          </a:p>
          <a:p>
            <a:pPr marL="927100">
              <a:lnSpc>
                <a:spcPts val="1140"/>
              </a:lnSpc>
            </a:pPr>
            <a:r>
              <a:rPr sz="1000" dirty="0">
                <a:latin typeface="Courier New"/>
                <a:cs typeface="Courier New"/>
              </a:rPr>
              <a:t>&lt;input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type="password"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name="password"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placeholder="Password"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required&gt;</a:t>
            </a:r>
            <a:endParaRPr sz="1000">
              <a:latin typeface="Courier New"/>
              <a:cs typeface="Courier New"/>
            </a:endParaRPr>
          </a:p>
          <a:p>
            <a:pPr marL="927100">
              <a:lnSpc>
                <a:spcPts val="1140"/>
              </a:lnSpc>
            </a:pPr>
            <a:r>
              <a:rPr sz="1000" dirty="0">
                <a:latin typeface="Courier New"/>
                <a:cs typeface="Courier New"/>
              </a:rPr>
              <a:t>&lt;button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type="submit"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class="btn"&gt;Login&lt;/button&gt;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25"/>
              </a:lnSpc>
            </a:pPr>
            <a:r>
              <a:rPr sz="1000" spc="-10" dirty="0">
                <a:latin typeface="Courier New"/>
                <a:cs typeface="Courier New"/>
              </a:rPr>
              <a:t>&lt;/form&gt;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&lt;/div&gt;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5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Times New Roman"/>
                <a:cs typeface="Times New Roman"/>
              </a:rPr>
              <a:t>Controller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Servlet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(LoginServlet.java)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70"/>
              </a:lnSpc>
              <a:spcBef>
                <a:spcPts val="1335"/>
              </a:spcBef>
            </a:pPr>
            <a:r>
              <a:rPr sz="1200" spc="-20" dirty="0">
                <a:latin typeface="Times New Roman"/>
                <a:cs typeface="Times New Roman"/>
              </a:rPr>
              <a:t>Java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095"/>
              </a:lnSpc>
            </a:pPr>
            <a:r>
              <a:rPr sz="1000" spc="-10" dirty="0">
                <a:latin typeface="Courier New"/>
                <a:cs typeface="Courier New"/>
              </a:rPr>
              <a:t>@WebServlet("/LoginServlet")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25"/>
              </a:lnSpc>
            </a:pPr>
            <a:r>
              <a:rPr sz="1000" dirty="0">
                <a:latin typeface="Courier New"/>
                <a:cs typeface="Courier New"/>
              </a:rPr>
              <a:t>public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class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LoginServlet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extends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HttpServlet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12700" marR="311150" indent="304800">
              <a:lnSpc>
                <a:spcPts val="1150"/>
              </a:lnSpc>
              <a:spcBef>
                <a:spcPts val="40"/>
              </a:spcBef>
            </a:pPr>
            <a:r>
              <a:rPr sz="1000" dirty="0">
                <a:latin typeface="Courier New"/>
                <a:cs typeface="Courier New"/>
              </a:rPr>
              <a:t>protected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void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doPost(HttpServletRequest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request,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HttpServletResponse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response) </a:t>
            </a:r>
            <a:r>
              <a:rPr sz="1000" dirty="0">
                <a:latin typeface="Courier New"/>
                <a:cs typeface="Courier New"/>
              </a:rPr>
              <a:t>throws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ServletException,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IOException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060"/>
              </a:lnSpc>
            </a:pPr>
            <a:r>
              <a:rPr sz="1000" dirty="0">
                <a:latin typeface="Courier New"/>
                <a:cs typeface="Courier New"/>
              </a:rPr>
              <a:t>String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user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request.getParameter("userid");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65"/>
              </a:lnSpc>
            </a:pPr>
            <a:r>
              <a:rPr sz="1000" dirty="0">
                <a:latin typeface="Courier New"/>
                <a:cs typeface="Courier New"/>
              </a:rPr>
              <a:t>String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pass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request.getParameter("password");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ourier New"/>
              <a:cs typeface="Courier New"/>
            </a:endParaRPr>
          </a:p>
          <a:p>
            <a:pPr marL="927100" marR="2216150" indent="-305435">
              <a:lnSpc>
                <a:spcPts val="1130"/>
              </a:lnSpc>
            </a:pPr>
            <a:r>
              <a:rPr sz="1000" dirty="0">
                <a:latin typeface="Courier New"/>
                <a:cs typeface="Courier New"/>
              </a:rPr>
              <a:t>if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("admin".equals(user)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&amp;&amp;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"1234".equals(pass))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spc="-50" dirty="0">
                <a:latin typeface="Courier New"/>
                <a:cs typeface="Courier New"/>
              </a:rPr>
              <a:t>{ </a:t>
            </a:r>
            <a:r>
              <a:rPr sz="1000" spc="-10" dirty="0">
                <a:latin typeface="Courier New"/>
                <a:cs typeface="Courier New"/>
              </a:rPr>
              <a:t>response.sendRedirect("WeatherDashboard");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070"/>
              </a:lnSpc>
            </a:pPr>
            <a:r>
              <a:rPr sz="1000" dirty="0">
                <a:latin typeface="Courier New"/>
                <a:cs typeface="Courier New"/>
              </a:rPr>
              <a:t>}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else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12700" marR="1682750" indent="914400">
              <a:lnSpc>
                <a:spcPts val="1130"/>
              </a:lnSpc>
              <a:spcBef>
                <a:spcPts val="70"/>
              </a:spcBef>
            </a:pPr>
            <a:r>
              <a:rPr sz="1000" spc="-10" dirty="0">
                <a:latin typeface="Courier New"/>
                <a:cs typeface="Courier New"/>
              </a:rPr>
              <a:t>response.getWriter().println("&lt;script&gt;alert('Fail!'); window.location='index.html';&lt;/script&gt;");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07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4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5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50" b="1" dirty="0">
                <a:latin typeface="Times New Roman"/>
                <a:cs typeface="Times New Roman"/>
              </a:rPr>
              <a:t>OUTPUT</a:t>
            </a:r>
            <a:r>
              <a:rPr sz="1350" b="1" spc="-10" dirty="0">
                <a:latin typeface="Times New Roman"/>
                <a:cs typeface="Times New Roman"/>
              </a:rPr>
              <a:t> </a:t>
            </a:r>
            <a:r>
              <a:rPr sz="1350" b="1" spc="-50" dirty="0">
                <a:latin typeface="Times New Roman"/>
                <a:cs typeface="Times New Roman"/>
              </a:rPr>
              <a:t>:</a:t>
            </a:r>
            <a:endParaRPr sz="135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527748"/>
            <a:ext cx="6638925" cy="31609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52B215-656A-B86C-22C3-DA496EF0D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" t="3153" r="1983" b="2332"/>
          <a:stretch>
            <a:fillRect/>
          </a:stretch>
        </p:blipFill>
        <p:spPr>
          <a:xfrm>
            <a:off x="93344" y="6527748"/>
            <a:ext cx="735965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817" y="435356"/>
            <a:ext cx="110363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Calibri"/>
                <a:cs typeface="Calibri"/>
              </a:rPr>
              <a:t>Get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Method: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4817" y="9473882"/>
            <a:ext cx="101282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latin typeface="Times New Roman"/>
                <a:cs typeface="Times New Roman"/>
              </a:rPr>
              <a:t>Post</a:t>
            </a:r>
            <a:r>
              <a:rPr sz="1350" b="1" spc="-15" dirty="0">
                <a:latin typeface="Times New Roman"/>
                <a:cs typeface="Times New Roman"/>
              </a:rPr>
              <a:t> </a:t>
            </a:r>
            <a:r>
              <a:rPr sz="1350" b="1" spc="-10" dirty="0">
                <a:latin typeface="Times New Roman"/>
                <a:cs typeface="Times New Roman"/>
              </a:rPr>
              <a:t>Method:</a:t>
            </a:r>
            <a:endParaRPr sz="1350">
              <a:latin typeface="Times New Roman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E0CD2E-8E2E-9744-A475-E82A11CDD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62" y="2832100"/>
            <a:ext cx="7315200" cy="3506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817" y="7771383"/>
            <a:ext cx="6612255" cy="939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10" dirty="0">
                <a:latin typeface="Times New Roman"/>
                <a:cs typeface="Times New Roman"/>
              </a:rPr>
              <a:t>RESULT</a:t>
            </a:r>
            <a:endParaRPr sz="1350">
              <a:latin typeface="Times New Roman"/>
              <a:cs typeface="Times New Roman"/>
            </a:endParaRPr>
          </a:p>
          <a:p>
            <a:pPr marL="12700" marR="5080" algn="just">
              <a:lnSpc>
                <a:spcPct val="96400"/>
              </a:lnSpc>
              <a:spcBef>
                <a:spcPts val="1410"/>
              </a:spcBef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Servlet-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weather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successfully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created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demonstrate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differences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between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HTTP </a:t>
            </a:r>
            <a:r>
              <a:rPr sz="1200" dirty="0">
                <a:latin typeface="Times New Roman"/>
                <a:cs typeface="Times New Roman"/>
              </a:rPr>
              <a:t>GET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methods.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method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utilized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retrieval,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POST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secure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 </a:t>
            </a:r>
            <a:r>
              <a:rPr sz="1200" spc="-10" dirty="0">
                <a:latin typeface="Times New Roman"/>
                <a:cs typeface="Times New Roman"/>
              </a:rPr>
              <a:t>transmission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authentication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reports.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957A0F-B6CA-4918-9C52-EE0BE3AFF3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" y="1155700"/>
            <a:ext cx="7448550" cy="52832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648</Words>
  <Application>Microsoft Office PowerPoint</Application>
  <PresentationFormat>Custom</PresentationFormat>
  <Paragraphs>71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Arial Black</vt:lpstr>
      <vt:lpstr>Calibri</vt:lpstr>
      <vt:lpstr>Courier New</vt:lpstr>
      <vt:lpstr>Segoe UI Emoji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SURIYA T</cp:lastModifiedBy>
  <cp:revision>1</cp:revision>
  <dcterms:created xsi:type="dcterms:W3CDTF">2026-05-06T03:33:54Z</dcterms:created>
  <dcterms:modified xsi:type="dcterms:W3CDTF">2026-05-06T03:39:44Z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2026-03-16T00:00:00Z</vt:filetime>
  </property>
  <property fmtid="{D5CDD505-2E9C-101B-9397-08002B2CF9AE}" pid="3" name="Creator">
    <vt:lpwstr>Microsoft Word</vt:lpwstr>
  </property>
  <property fmtid="{D5CDD505-2E9C-101B-9397-08002B2CF9AE}" pid="4" name="LastSaved">
    <vt:filetime>2026-05-06T00:00:00Z</vt:filetime>
  </property>
</Properties>
</file>